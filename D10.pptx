
<file path=[Content_Types].xml><?xml version="1.0" encoding="utf-8"?>
<Types xmlns="http://schemas.openxmlformats.org/package/2006/content-types">
  <Default ContentType="image/x-emf" Extension="emf"/>
  <Default ContentType="image/jpeg" Extension="jpeg"/>
  <Default ContentType="image/png" Extension="png"/>
  <Default ContentType="application/vnd.openxmlformats-package.relationships+xml" Extension="rels"/>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ms-powerpoint.changesinfo+xml" PartName="/ppt/changesInfos/changesInfo1.xml"/>
  <Override ContentType="application/vnd.ms-powerpoint.revisioninfo+xml" PartName="/ppt/revisionInfo.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8" r:id="rId3"/>
    <p:sldId id="282" r:id="rId4"/>
    <p:sldId id="264" r:id="rId5"/>
    <p:sldId id="263" r:id="rId6"/>
    <p:sldId id="273" r:id="rId7"/>
    <p:sldId id="272" r:id="rId8"/>
    <p:sldId id="262" r:id="rId9"/>
    <p:sldId id="261" r:id="rId10"/>
    <p:sldId id="260" r:id="rId11"/>
    <p:sldId id="259" r:id="rId12"/>
    <p:sldId id="266" r:id="rId13"/>
    <p:sldId id="275" r:id="rId14"/>
    <p:sldId id="283" r:id="rId15"/>
    <p:sldId id="274" r:id="rId16"/>
    <p:sldId id="291" r:id="rId17"/>
    <p:sldId id="292" r:id="rId18"/>
    <p:sldId id="293" r:id="rId19"/>
    <p:sldId id="267" r:id="rId20"/>
    <p:sldId id="284" r:id="rId21"/>
    <p:sldId id="285" r:id="rId22"/>
    <p:sldId id="287" r:id="rId23"/>
    <p:sldId id="294" r:id="rId24"/>
    <p:sldId id="295" r:id="rId25"/>
    <p:sldId id="279" r:id="rId26"/>
    <p:sldId id="288" r:id="rId27"/>
    <p:sldId id="269" r:id="rId28"/>
    <p:sldId id="289" r:id="rId29"/>
    <p:sldId id="297" r:id="rId30"/>
    <p:sldId id="298" r:id="rId31"/>
    <p:sldId id="270" r:id="rId32"/>
    <p:sldId id="296" r:id="rId33"/>
    <p:sldId id="265" r:id="rId34"/>
    <p:sldId id="271"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0803A7-3E45-4FA2-AB34-EEED8F274D61}" v="79" dt="2025-03-24T15:25:59.5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196" autoAdjust="0"/>
  </p:normalViewPr>
  <p:slideViewPr>
    <p:cSldViewPr snapToGrid="0">
      <p:cViewPr>
        <p:scale>
          <a:sx n="66" d="100"/>
          <a:sy n="66" d="100"/>
        </p:scale>
        <p:origin x="1886" y="25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shore k" userId="b3dfa3f0133122ce" providerId="LiveId" clId="{DB0803A7-3E45-4FA2-AB34-EEED8F274D61}"/>
    <pc:docChg chg="undo custSel modSld sldOrd">
      <pc:chgData name="kishore k" userId="b3dfa3f0133122ce" providerId="LiveId" clId="{DB0803A7-3E45-4FA2-AB34-EEED8F274D61}" dt="2025-04-03T04:13:15.791" v="6" actId="1076"/>
      <pc:docMkLst>
        <pc:docMk/>
      </pc:docMkLst>
      <pc:sldChg chg="ord">
        <pc:chgData name="kishore k" userId="b3dfa3f0133122ce" providerId="LiveId" clId="{DB0803A7-3E45-4FA2-AB34-EEED8F274D61}" dt="2025-03-27T02:16:43.565" v="3"/>
        <pc:sldMkLst>
          <pc:docMk/>
          <pc:sldMk cId="989993110" sldId="256"/>
        </pc:sldMkLst>
      </pc:sldChg>
      <pc:sldChg chg="modSp mod">
        <pc:chgData name="kishore k" userId="b3dfa3f0133122ce" providerId="LiveId" clId="{DB0803A7-3E45-4FA2-AB34-EEED8F274D61}" dt="2025-04-03T04:13:15.791" v="6" actId="1076"/>
        <pc:sldMkLst>
          <pc:docMk/>
          <pc:sldMk cId="1665330977" sldId="266"/>
        </pc:sldMkLst>
        <pc:picChg chg="mod">
          <ac:chgData name="kishore k" userId="b3dfa3f0133122ce" providerId="LiveId" clId="{DB0803A7-3E45-4FA2-AB34-EEED8F274D61}" dt="2025-04-03T04:13:15.791" v="6" actId="1076"/>
          <ac:picMkLst>
            <pc:docMk/>
            <pc:sldMk cId="1665330977" sldId="266"/>
            <ac:picMk id="5" creationId="{CA40E465-D4AD-CEDA-ACA8-CC7618080CC0}"/>
          </ac:picMkLst>
        </pc:picChg>
      </pc:sldChg>
      <pc:sldChg chg="modSp mod">
        <pc:chgData name="kishore k" userId="b3dfa3f0133122ce" providerId="LiveId" clId="{DB0803A7-3E45-4FA2-AB34-EEED8F274D61}" dt="2025-04-03T04:03:39.930" v="5" actId="6549"/>
        <pc:sldMkLst>
          <pc:docMk/>
          <pc:sldMk cId="1211833321" sldId="282"/>
        </pc:sldMkLst>
        <pc:spChg chg="mod">
          <ac:chgData name="kishore k" userId="b3dfa3f0133122ce" providerId="LiveId" clId="{DB0803A7-3E45-4FA2-AB34-EEED8F274D61}" dt="2025-04-03T04:03:39.930" v="5" actId="6549"/>
          <ac:spMkLst>
            <pc:docMk/>
            <pc:sldMk cId="1211833321" sldId="282"/>
            <ac:spMk id="6" creationId="{18C2F2CF-9D19-6907-22FC-54C42EE1559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0672-1B94-4A60-842A-DF9F0BF0CC8B}" type="datetimeFigureOut">
              <a:rPr lang="en-IN" smtClean="0"/>
              <a:t>03-04-2025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47B17-79FE-4478-A310-1A2505B9FEF6}" type="slidenum">
              <a:rPr lang="en-IN" smtClean="0"/>
              <a:t>‹#›</a:t>
            </a:fld>
            <a:endParaRPr lang="en-IN"/>
          </a:p>
        </p:txBody>
      </p:sp>
    </p:spTree>
    <p:extLst>
      <p:ext uri="{BB962C8B-B14F-4D97-AF65-F5344CB8AC3E}">
        <p14:creationId xmlns:p14="http://schemas.microsoft.com/office/powerpoint/2010/main" val="3866276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3</a:t>
            </a:fld>
            <a:endParaRPr lang="en-IN"/>
          </a:p>
        </p:txBody>
      </p:sp>
    </p:spTree>
    <p:extLst>
      <p:ext uri="{BB962C8B-B14F-4D97-AF65-F5344CB8AC3E}">
        <p14:creationId xmlns:p14="http://schemas.microsoft.com/office/powerpoint/2010/main" val="2139283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5</a:t>
            </a:fld>
            <a:endParaRPr lang="en-IN"/>
          </a:p>
        </p:txBody>
      </p:sp>
    </p:spTree>
    <p:extLst>
      <p:ext uri="{BB962C8B-B14F-4D97-AF65-F5344CB8AC3E}">
        <p14:creationId xmlns:p14="http://schemas.microsoft.com/office/powerpoint/2010/main" val="397802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6</a:t>
            </a:fld>
            <a:endParaRPr lang="en-IN"/>
          </a:p>
        </p:txBody>
      </p:sp>
    </p:spTree>
    <p:extLst>
      <p:ext uri="{BB962C8B-B14F-4D97-AF65-F5344CB8AC3E}">
        <p14:creationId xmlns:p14="http://schemas.microsoft.com/office/powerpoint/2010/main" val="3841861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065591-C3C6-47CF-A2DB-55DDBFB55A85}" type="datetime1">
              <a:rPr lang="en-IN" smtClean="0"/>
              <a:t>03-04-2025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518413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432E2-0806-4929-8779-EE88DDC47E47}" type="datetime1">
              <a:rPr lang="en-IN" smtClean="0"/>
              <a:t>03-04-2025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337664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715436-A2AC-4D89-9329-97AA1B97EAFC}" type="datetime1">
              <a:rPr lang="en-IN" smtClean="0"/>
              <a:t>03-04-2025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123058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8E84AF-4249-49EE-87E5-0A37D77DAEE4}" type="datetime1">
              <a:rPr lang="en-IN" smtClean="0"/>
              <a:t>03-04-2025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68501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E42BAB-21C6-4946-AC9E-F08FB01A7447}" type="datetime1">
              <a:rPr lang="en-IN" smtClean="0"/>
              <a:t>03-04-2025</a:t>
            </a:fld>
            <a:endParaRPr lang="en-IN"/>
          </a:p>
        </p:txBody>
      </p:sp>
      <p:sp>
        <p:nvSpPr>
          <p:cNvPr id="8" name="Footer Placeholder 7"/>
          <p:cNvSpPr>
            <a:spLocks noGrp="1"/>
          </p:cNvSpPr>
          <p:nvPr>
            <p:ph type="ftr" sz="quarter" idx="11"/>
          </p:nvPr>
        </p:nvSpPr>
        <p:spPr/>
        <p:txBody>
          <a:bodyPr/>
          <a:lstStyle/>
          <a:p>
            <a:r>
              <a:rPr lang="en-IN"/>
              <a:t>Title of the Project</a:t>
            </a:r>
          </a:p>
        </p:txBody>
      </p:sp>
      <p:sp>
        <p:nvSpPr>
          <p:cNvPr id="9" name="Slide Number Placeholder 8"/>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4291154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251D88-3FE6-4182-8819-A45055358F36}" type="datetime1">
              <a:rPr lang="en-IN" smtClean="0"/>
              <a:t>03-04-2025</a:t>
            </a:fld>
            <a:endParaRPr lang="en-IN"/>
          </a:p>
        </p:txBody>
      </p:sp>
      <p:sp>
        <p:nvSpPr>
          <p:cNvPr id="4" name="Footer Placeholder 3"/>
          <p:cNvSpPr>
            <a:spLocks noGrp="1"/>
          </p:cNvSpPr>
          <p:nvPr>
            <p:ph type="ftr" sz="quarter" idx="11"/>
          </p:nvPr>
        </p:nvSpPr>
        <p:spPr/>
        <p:txBody>
          <a:bodyPr/>
          <a:lstStyle/>
          <a:p>
            <a:r>
              <a:rPr lang="en-IN"/>
              <a:t>Title of the Project</a:t>
            </a:r>
          </a:p>
        </p:txBody>
      </p:sp>
      <p:sp>
        <p:nvSpPr>
          <p:cNvPr id="5" name="Slide Number Placeholder 4"/>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143164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p:cNvSpPr>
            <a:spLocks noGrp="1"/>
          </p:cNvSpPr>
          <p:nvPr>
            <p:ph type="ftr" sz="quarter" idx="11"/>
          </p:nvPr>
        </p:nvSpPr>
        <p:spPr/>
        <p:txBody>
          <a:bodyPr/>
          <a:lstStyle/>
          <a:p>
            <a:r>
              <a:rPr lang="en-IN"/>
              <a:t>Title of the Project</a:t>
            </a:r>
          </a:p>
        </p:txBody>
      </p:sp>
      <p:sp>
        <p:nvSpPr>
          <p:cNvPr id="4" name="Slide Number Placeholder 3"/>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27128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D1E957-E8C0-4B79-8C47-A2FFB4C79D04}" type="datetime1">
              <a:rPr lang="en-IN" smtClean="0"/>
              <a:t>03-04-2025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884462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C60097-B585-439D-9C55-CBA24A0E2EC5}" type="datetime1">
              <a:rPr lang="en-IN" smtClean="0"/>
              <a:t>03-04-2025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7276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CC0C9A-A18F-4F99-8022-CCFEBCD4A044}" type="datetime1">
              <a:rPr lang="en-IN" smtClean="0"/>
              <a:t>03-04-2025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351823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91557-4971-443F-96E7-C200B513F2AB}" type="datetime1">
              <a:rPr lang="en-IN" smtClean="0"/>
              <a:t>03-04-2025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1319139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574CBD-D244-420B-B808-B53ACA3B5DC2}" type="datetime1">
              <a:rPr lang="en-IN" smtClean="0"/>
              <a:t>03-04-2025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Title of the Project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FF152-60F5-4862-82F9-1190556AA56F}" type="slidenum">
              <a:rPr lang="en-IN" smtClean="0"/>
              <a:t>‹#›</a:t>
            </a:fld>
            <a:endParaRPr lang="en-IN"/>
          </a:p>
        </p:txBody>
      </p:sp>
    </p:spTree>
    <p:extLst>
      <p:ext uri="{BB962C8B-B14F-4D97-AF65-F5344CB8AC3E}">
        <p14:creationId xmlns:p14="http://schemas.microsoft.com/office/powerpoint/2010/main" val="2887984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Layouts/slideLayout1.xml" Type="http://schemas.openxmlformats.org/officeDocument/2006/relationships/slideLayout"/><Relationship Id="rId4" Target="../media/image3.jpeg" Type="http://schemas.openxmlformats.org/officeDocument/2006/relationships/image"/></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arget="../media/image15.jpeg" Type="http://schemas.openxmlformats.org/officeDocument/2006/relationships/image"/><Relationship Id="rId2" Target="../media/image14.jpeg" Type="http://schemas.openxmlformats.org/officeDocument/2006/relationships/image"/><Relationship Id="rId1" Target="../slideLayouts/slideLayout2.xml" Type="http://schemas.openxmlformats.org/officeDocument/2006/relationships/slideLayout"/><Relationship Id="rId4" Target="../media/image16.jpeg" Type="http://schemas.openxmlformats.org/officeDocument/2006/relationships/image"/></Relationships>
</file>

<file path=ppt/slides/_rels/slide28.xml.rels><?xml version="1.0" encoding="UTF-8" standalone="yes" ?><Relationships xmlns="http://schemas.openxmlformats.org/package/2006/relationships"><Relationship Id="rId3" Target="../media/image18.jpeg" Type="http://schemas.openxmlformats.org/officeDocument/2006/relationships/image"/><Relationship Id="rId2" Target="../media/image17.jpeg" Type="http://schemas.openxmlformats.org/officeDocument/2006/relationships/image"/><Relationship Id="rId1" Target="../slideLayouts/slideLayout2.xml" Type="http://schemas.openxmlformats.org/officeDocument/2006/relationships/slideLayout"/><Relationship Id="rId5" Target="../media/image20.PNG" Type="http://schemas.openxmlformats.org/officeDocument/2006/relationships/image"/><Relationship Id="rId4" Target="../media/image19.jpeg" Type="http://schemas.openxmlformats.org/officeDocument/2006/relationships/image"/></Relationships>
</file>

<file path=ppt/slides/_rels/slide29.xml.rels><?xml version="1.0" encoding="UTF-8" standalone="yes" ?><Relationships xmlns="http://schemas.openxmlformats.org/package/2006/relationships"><Relationship Id="rId3" Target="../media/image22.jpeg" Type="http://schemas.openxmlformats.org/officeDocument/2006/relationships/image"/><Relationship Id="rId2" Target="../media/image21.png" Type="http://schemas.openxmlformats.org/officeDocument/2006/relationships/image"/><Relationship Id="rId1" Target="../slideLayouts/slideLayout7.xml" Type="http://schemas.openxmlformats.org/officeDocument/2006/relationships/slideLayout"/><Relationship Id="rId6" Target="../media/image25.PNG" Type="http://schemas.openxmlformats.org/officeDocument/2006/relationships/image"/><Relationship Id="rId5" Target="../media/image24.jpeg" Type="http://schemas.openxmlformats.org/officeDocument/2006/relationships/image"/><Relationship Id="rId4" Target="../media/image23.jpeg" Type="http://schemas.openxmlformats.org/officeDocument/2006/relationships/image"/></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17383E-C6FC-49E7-A521-82BA6750D5ED}"/>
              </a:ext>
            </a:extLst>
          </p:cNvPr>
          <p:cNvPicPr>
            <a:picLocks noChangeAspect="1"/>
          </p:cNvPicPr>
          <p:nvPr/>
        </p:nvPicPr>
        <p:blipFill>
          <a:blip r:embed="rId2"/>
          <a:stretch>
            <a:fillRect/>
          </a:stretch>
        </p:blipFill>
        <p:spPr>
          <a:xfrm>
            <a:off x="174379" y="99322"/>
            <a:ext cx="1576960" cy="1178263"/>
          </a:xfrm>
          <a:prstGeom prst="rect">
            <a:avLst/>
          </a:prstGeom>
        </p:spPr>
      </p:pic>
      <p:pic>
        <p:nvPicPr>
          <p:cNvPr id="1032" name="Picture 8" descr="Anna University - Wikipedia">
            <a:extLst>
              <a:ext uri="{FF2B5EF4-FFF2-40B4-BE49-F238E27FC236}">
                <a16:creationId xmlns:a16="http://schemas.microsoft.com/office/drawing/2014/main" id="{D6A094F9-77C3-45C3-9A48-8D52C03CE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5085" y="88372"/>
            <a:ext cx="1306884" cy="11782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36F5FA9-0A71-48B8-AEAE-E35B120A096B}"/>
              </a:ext>
            </a:extLst>
          </p:cNvPr>
          <p:cNvSpPr txBox="1"/>
          <p:nvPr/>
        </p:nvSpPr>
        <p:spPr>
          <a:xfrm>
            <a:off x="1128419" y="1800692"/>
            <a:ext cx="7020042" cy="461665"/>
          </a:xfrm>
          <a:prstGeom prst="rect">
            <a:avLst/>
          </a:prstGeom>
          <a:noFill/>
        </p:spPr>
        <p:txBody>
          <a:bodyPr wrap="square">
            <a:spAutoFit/>
          </a:bodyPr>
          <a:lstStyle/>
          <a:p>
            <a:r>
              <a:rPr lang="en-US" sz="2400" b="1" dirty="0">
                <a:solidFill>
                  <a:srgbClr val="7030A0"/>
                </a:solidFill>
                <a:latin typeface="Times New Roman" panose="02020603050405020304" pitchFamily="18" charset="0"/>
              </a:rPr>
              <a:t>Department of Computer Science and Engineering </a:t>
            </a:r>
            <a:endParaRPr lang="en-IN" sz="2400" b="1" dirty="0">
              <a:solidFill>
                <a:srgbClr val="7030A0"/>
              </a:solidFill>
            </a:endParaRPr>
          </a:p>
        </p:txBody>
      </p:sp>
      <p:sp>
        <p:nvSpPr>
          <p:cNvPr id="9" name="TextBox 8">
            <a:extLst>
              <a:ext uri="{FF2B5EF4-FFF2-40B4-BE49-F238E27FC236}">
                <a16:creationId xmlns:a16="http://schemas.microsoft.com/office/drawing/2014/main" id="{E2AB4079-B959-438A-8887-B4E86C814C3D}"/>
              </a:ext>
            </a:extLst>
          </p:cNvPr>
          <p:cNvSpPr txBox="1"/>
          <p:nvPr/>
        </p:nvSpPr>
        <p:spPr>
          <a:xfrm>
            <a:off x="1657350" y="2449440"/>
            <a:ext cx="5512566" cy="889346"/>
          </a:xfrm>
          <a:prstGeom prst="rect">
            <a:avLst/>
          </a:prstGeom>
          <a:noFill/>
        </p:spPr>
        <p:txBody>
          <a:bodyPr wrap="square" rtlCol="0">
            <a:spAutoFit/>
          </a:bodyPr>
          <a:lstStyle/>
          <a:p>
            <a:pPr algn="ctr">
              <a:lnSpc>
                <a:spcPct val="150000"/>
              </a:lnSpc>
              <a:spcBef>
                <a:spcPts val="40"/>
              </a:spcBef>
              <a:spcAft>
                <a:spcPts val="800"/>
              </a:spcAft>
              <a:buNone/>
            </a:pPr>
            <a:r>
              <a:rPr lang="en-US" sz="1600" b="1" kern="0" dirty="0">
                <a:effectLst/>
                <a:latin typeface="Times New Roman" panose="02020603050405020304" pitchFamily="18" charset="0"/>
                <a:ea typeface="Times New Roman" panose="02020603050405020304" pitchFamily="18" charset="0"/>
                <a:cs typeface="Times New Roman" panose="02020603050405020304" pitchFamily="18" charset="0"/>
              </a:rPr>
              <a:t>BLOCKCHAIN-BASED LAND REGISTRATION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Bef>
                <a:spcPts val="40"/>
              </a:spcBef>
              <a:spcAft>
                <a:spcPts val="800"/>
              </a:spcAft>
            </a:pPr>
            <a:r>
              <a:rPr lang="en-US" sz="1600" b="1" kern="0" dirty="0">
                <a:effectLst/>
                <a:latin typeface="Times New Roman" panose="02020603050405020304" pitchFamily="18" charset="0"/>
                <a:ea typeface="Times New Roman" panose="02020603050405020304" pitchFamily="18" charset="0"/>
                <a:cs typeface="Times New Roman" panose="02020603050405020304" pitchFamily="18" charset="0"/>
              </a:rPr>
              <a:t>FOR AGRICULTURAL LAND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1330EC8A-088B-458F-9182-920EE3139846}"/>
              </a:ext>
            </a:extLst>
          </p:cNvPr>
          <p:cNvSpPr txBox="1"/>
          <p:nvPr/>
        </p:nvSpPr>
        <p:spPr>
          <a:xfrm>
            <a:off x="7371" y="5433021"/>
            <a:ext cx="4515233" cy="80021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Guide Name &amp; Designation	</a:t>
            </a:r>
          </a:p>
          <a:p>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Dr M. KRISHNAMOORTHY M.E., Ph.D.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ASSOCIATE PROFESSOR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B14CB2B-BA40-B9F9-16FA-AA5B5E13E8EA}"/>
              </a:ext>
            </a:extLst>
          </p:cNvPr>
          <p:cNvSpPr txBox="1"/>
          <p:nvPr/>
        </p:nvSpPr>
        <p:spPr>
          <a:xfrm>
            <a:off x="2083981" y="3429000"/>
            <a:ext cx="4802820" cy="1396985"/>
          </a:xfrm>
          <a:prstGeom prst="rect">
            <a:avLst/>
          </a:prstGeom>
          <a:noFill/>
        </p:spPr>
        <p:txBody>
          <a:bodyPr wrap="square" rtlCol="0">
            <a:spAutoFit/>
          </a:bodyPr>
          <a:lstStyle/>
          <a:p>
            <a:pPr marR="122555" algn="ctr">
              <a:lnSpc>
                <a:spcPct val="150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KEVIN JOE CLIFFORD. J [211421104128] KISHORE. K [211421104131] </a:t>
            </a:r>
          </a:p>
          <a:p>
            <a:pPr marR="122555" algn="ctr">
              <a:lnSpc>
                <a:spcPct val="150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JEFIN JOE. J [211421104110]</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DA7E15F-5577-E472-5EEB-C46481EAA666}"/>
              </a:ext>
            </a:extLst>
          </p:cNvPr>
          <p:cNvSpPr txBox="1"/>
          <p:nvPr/>
        </p:nvSpPr>
        <p:spPr>
          <a:xfrm>
            <a:off x="5398821" y="5413383"/>
            <a:ext cx="3542190" cy="80021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Coordinator Name &amp; Designation</a:t>
            </a:r>
            <a:endParaRPr lang="en-IN" sz="1800" b="0" i="0" u="none" strike="noStrike" baseline="0" dirty="0">
              <a:solidFill>
                <a:srgbClr val="000000"/>
              </a:solidFill>
              <a:latin typeface="Times New Roman" panose="02020603050405020304" pitchFamily="18" charset="0"/>
            </a:endParaRPr>
          </a:p>
          <a:p>
            <a:r>
              <a:rPr lang="en-IN" sz="1400" b="1" i="0" u="none" strike="noStrike" baseline="0" dirty="0">
                <a:solidFill>
                  <a:srgbClr val="000000"/>
                </a:solidFill>
                <a:latin typeface="Times New Roman" panose="02020603050405020304" pitchFamily="18" charset="0"/>
              </a:rPr>
              <a:t>Dr R. </a:t>
            </a:r>
            <a:r>
              <a:rPr lang="en-IN" sz="1400" b="1" dirty="0">
                <a:solidFill>
                  <a:srgbClr val="000000"/>
                </a:solidFill>
                <a:latin typeface="Times New Roman" panose="02020603050405020304" pitchFamily="18" charset="0"/>
              </a:rPr>
              <a:t>J</a:t>
            </a:r>
            <a:r>
              <a:rPr lang="en-IN" sz="1400" b="1" i="0" u="none" strike="noStrike" baseline="0" dirty="0">
                <a:solidFill>
                  <a:srgbClr val="000000"/>
                </a:solidFill>
                <a:latin typeface="Times New Roman" panose="02020603050405020304" pitchFamily="18" charset="0"/>
              </a:rPr>
              <a:t>OSEPHINLEELA </a:t>
            </a: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M.E., Ph.D.</a:t>
            </a:r>
          </a:p>
          <a:p>
            <a:r>
              <a:rPr lang="en-IN" sz="1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PROFESSOR</a:t>
            </a:r>
            <a:endPar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17ACA5B2-7494-70D8-175E-1A0009147C93}"/>
              </a:ext>
            </a:extLst>
          </p:cNvPr>
          <p:cNvPicPr>
            <a:picLocks noChangeAspect="1"/>
          </p:cNvPicPr>
          <p:nvPr/>
        </p:nvPicPr>
        <p:blipFill>
          <a:blip r:embed="rId4"/>
          <a:stretch>
            <a:fillRect/>
          </a:stretch>
        </p:blipFill>
        <p:spPr>
          <a:xfrm>
            <a:off x="1418480" y="99322"/>
            <a:ext cx="6133822" cy="1263286"/>
          </a:xfrm>
          <a:prstGeom prst="rect">
            <a:avLst/>
          </a:prstGeom>
        </p:spPr>
      </p:pic>
      <p:sp>
        <p:nvSpPr>
          <p:cNvPr id="6" name="Date Placeholder 5">
            <a:extLst>
              <a:ext uri="{FF2B5EF4-FFF2-40B4-BE49-F238E27FC236}">
                <a16:creationId xmlns:a16="http://schemas.microsoft.com/office/drawing/2014/main" id="{EB3F79D1-0796-072A-CD75-B8086F0F9250}"/>
              </a:ext>
            </a:extLst>
          </p:cNvPr>
          <p:cNvSpPr>
            <a:spLocks noGrp="1"/>
          </p:cNvSpPr>
          <p:nvPr>
            <p:ph type="dt" sz="half" idx="10"/>
          </p:nvPr>
        </p:nvSpPr>
        <p:spPr/>
        <p:txBody>
          <a:bodyPr/>
          <a:lstStyle/>
          <a:p>
            <a:fld id="{B1F8A8B3-64F9-4DC5-ACC8-B61CB529DC3B}" type="datetime1">
              <a:rPr lang="en-IN" smtClean="0"/>
              <a:t>03-04-2025</a:t>
            </a:fld>
            <a:endParaRPr lang="en-IN" dirty="0"/>
          </a:p>
        </p:txBody>
      </p:sp>
      <p:sp>
        <p:nvSpPr>
          <p:cNvPr id="10" name="Slide Number Placeholder 9">
            <a:extLst>
              <a:ext uri="{FF2B5EF4-FFF2-40B4-BE49-F238E27FC236}">
                <a16:creationId xmlns:a16="http://schemas.microsoft.com/office/drawing/2014/main" id="{1A45000B-3233-04ED-8583-BAA14AF15C75}"/>
              </a:ext>
            </a:extLst>
          </p:cNvPr>
          <p:cNvSpPr>
            <a:spLocks noGrp="1"/>
          </p:cNvSpPr>
          <p:nvPr>
            <p:ph type="sldNum" sz="quarter" idx="12"/>
          </p:nvPr>
        </p:nvSpPr>
        <p:spPr>
          <a:xfrm>
            <a:off x="6457949" y="6356351"/>
            <a:ext cx="2314273" cy="365125"/>
          </a:xfrm>
        </p:spPr>
        <p:txBody>
          <a:bodyPr/>
          <a:lstStyle/>
          <a:p>
            <a:fld id="{9D3FF152-60F5-4862-82F9-1190556AA56F}" type="slidenum">
              <a:rPr lang="en-IN" sz="1400" b="1" smtClean="0">
                <a:solidFill>
                  <a:schemeClr val="tx1"/>
                </a:solidFill>
              </a:rPr>
              <a:t>1</a:t>
            </a:fld>
            <a:endParaRPr lang="en-IN" sz="1400" b="1" dirty="0">
              <a:solidFill>
                <a:schemeClr val="tx1"/>
              </a:solidFill>
            </a:endParaRPr>
          </a:p>
        </p:txBody>
      </p:sp>
      <p:sp>
        <p:nvSpPr>
          <p:cNvPr id="8" name="Footer Placeholder 7">
            <a:extLst>
              <a:ext uri="{FF2B5EF4-FFF2-40B4-BE49-F238E27FC236}">
                <a16:creationId xmlns:a16="http://schemas.microsoft.com/office/drawing/2014/main" id="{883DBBAE-C41A-ABDF-CB33-314E9D7C56C6}"/>
              </a:ext>
            </a:extLst>
          </p:cNvPr>
          <p:cNvSpPr>
            <a:spLocks noGrp="1"/>
          </p:cNvSpPr>
          <p:nvPr>
            <p:ph type="ftr" sz="quarter" idx="11"/>
          </p:nvPr>
        </p:nvSpPr>
        <p:spPr/>
        <p:txBody>
          <a:bodyPr/>
          <a:lstStyle/>
          <a:p>
            <a:r>
              <a:rPr lang="en-IN" dirty="0"/>
              <a:t>Title of the Project</a:t>
            </a:r>
          </a:p>
        </p:txBody>
      </p:sp>
    </p:spTree>
    <p:extLst>
      <p:ext uri="{BB962C8B-B14F-4D97-AF65-F5344CB8AC3E}">
        <p14:creationId xmlns:p14="http://schemas.microsoft.com/office/powerpoint/2010/main" val="989993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Abstract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2222777-92ED-54BE-C685-6C231F278C74}"/>
              </a:ext>
            </a:extLst>
          </p:cNvPr>
          <p:cNvSpPr>
            <a:spLocks noGrp="1"/>
          </p:cNvSpPr>
          <p:nvPr>
            <p:ph type="dt" sz="half" idx="10"/>
          </p:nvPr>
        </p:nvSpPr>
        <p:spPr/>
        <p:txBody>
          <a:bodyPr/>
          <a:lstStyle/>
          <a:p>
            <a:fld id="{18F0AC4F-8EE2-49E7-816C-79BFA23C6CF7}" type="datetime1">
              <a:rPr lang="en-IN" smtClean="0"/>
              <a:t>03-04-2025</a:t>
            </a:fld>
            <a:endParaRPr lang="en-IN"/>
          </a:p>
        </p:txBody>
      </p:sp>
      <p:sp>
        <p:nvSpPr>
          <p:cNvPr id="4" name="Slide Number Placeholder 3">
            <a:extLst>
              <a:ext uri="{FF2B5EF4-FFF2-40B4-BE49-F238E27FC236}">
                <a16:creationId xmlns:a16="http://schemas.microsoft.com/office/drawing/2014/main" id="{4D0D27F3-A695-E40C-B83C-8D83510D94B2}"/>
              </a:ext>
            </a:extLst>
          </p:cNvPr>
          <p:cNvSpPr>
            <a:spLocks noGrp="1"/>
          </p:cNvSpPr>
          <p:nvPr>
            <p:ph type="sldNum" sz="quarter" idx="12"/>
          </p:nvPr>
        </p:nvSpPr>
        <p:spPr/>
        <p:txBody>
          <a:bodyPr/>
          <a:lstStyle/>
          <a:p>
            <a:fld id="{9D3FF152-60F5-4862-82F9-1190556AA56F}" type="slidenum">
              <a:rPr lang="en-IN" sz="1400" b="1" smtClean="0">
                <a:solidFill>
                  <a:schemeClr val="tx1"/>
                </a:solidFill>
              </a:rPr>
              <a:t>2</a:t>
            </a:fld>
            <a:endParaRPr lang="en-IN" sz="1400" b="1" dirty="0">
              <a:solidFill>
                <a:schemeClr val="tx1"/>
              </a:solidFill>
            </a:endParaRPr>
          </a:p>
        </p:txBody>
      </p:sp>
      <p:sp>
        <p:nvSpPr>
          <p:cNvPr id="5" name="TextBox 4">
            <a:extLst>
              <a:ext uri="{FF2B5EF4-FFF2-40B4-BE49-F238E27FC236}">
                <a16:creationId xmlns:a16="http://schemas.microsoft.com/office/drawing/2014/main" id="{DC7BA443-99A8-7A6F-DA2E-441820D56F6D}"/>
              </a:ext>
            </a:extLst>
          </p:cNvPr>
          <p:cNvSpPr txBox="1"/>
          <p:nvPr/>
        </p:nvSpPr>
        <p:spPr>
          <a:xfrm>
            <a:off x="1120588" y="1604682"/>
            <a:ext cx="7394762" cy="369332"/>
          </a:xfrm>
          <a:prstGeom prst="rect">
            <a:avLst/>
          </a:prstGeom>
          <a:noFill/>
        </p:spPr>
        <p:txBody>
          <a:bodyPr wrap="square" rtlCol="0">
            <a:spAutoFit/>
          </a:bodyPr>
          <a:lstStyle/>
          <a:p>
            <a:endParaRPr lang="en-IN" dirty="0"/>
          </a:p>
        </p:txBody>
      </p:sp>
      <p:sp>
        <p:nvSpPr>
          <p:cNvPr id="6" name="Footer Placeholder 5">
            <a:extLst>
              <a:ext uri="{FF2B5EF4-FFF2-40B4-BE49-F238E27FC236}">
                <a16:creationId xmlns:a16="http://schemas.microsoft.com/office/drawing/2014/main" id="{531CCE89-FE17-CEEC-F45A-C882A485DC45}"/>
              </a:ext>
            </a:extLst>
          </p:cNvPr>
          <p:cNvSpPr>
            <a:spLocks noGrp="1"/>
          </p:cNvSpPr>
          <p:nvPr>
            <p:ph type="ftr" sz="quarter" idx="11"/>
          </p:nvPr>
        </p:nvSpPr>
        <p:spPr/>
        <p:txBody>
          <a:bodyPr/>
          <a:lstStyle/>
          <a:p>
            <a:r>
              <a:rPr lang="en-IN"/>
              <a:t>Title of the Project</a:t>
            </a:r>
          </a:p>
        </p:txBody>
      </p:sp>
      <p:sp>
        <p:nvSpPr>
          <p:cNvPr id="8" name="TextBox 7">
            <a:extLst>
              <a:ext uri="{FF2B5EF4-FFF2-40B4-BE49-F238E27FC236}">
                <a16:creationId xmlns:a16="http://schemas.microsoft.com/office/drawing/2014/main" id="{45D9F22F-9785-92BD-DEA0-C2A68DD74A68}"/>
              </a:ext>
            </a:extLst>
          </p:cNvPr>
          <p:cNvSpPr txBox="1"/>
          <p:nvPr/>
        </p:nvSpPr>
        <p:spPr>
          <a:xfrm>
            <a:off x="381317" y="986705"/>
            <a:ext cx="8381365" cy="4577985"/>
          </a:xfrm>
          <a:prstGeom prst="rect">
            <a:avLst/>
          </a:prstGeom>
          <a:noFill/>
        </p:spPr>
        <p:txBody>
          <a:bodyPr wrap="square">
            <a:spAutoFit/>
          </a:bodyPr>
          <a:lstStyle/>
          <a:p>
            <a:pPr algn="just">
              <a:lnSpc>
                <a:spcPct val="150000"/>
              </a:lnSpc>
              <a:buNone/>
            </a:pPr>
            <a:r>
              <a:rPr lang="en-US" sz="1400" dirty="0">
                <a:latin typeface="Times New Roman" panose="02020603050405020304" pitchFamily="18" charset="0"/>
                <a:cs typeface="Times New Roman" panose="02020603050405020304" pitchFamily="18" charset="0"/>
              </a:rPr>
              <a:t>The proposed system introduces a secure and blockchain-based land registration framework specifically designed for agricultural land. Traditional land registry systems rely on centralized databases, making them prone to fraud, data tampering, and unauthorized modifications. To address these challenges, we integrate Blockchain and AI technologies to ensure a transparent, immutable, and fraud-resistant land registration process. The system leverages AI models such as Logistic Regression (LR), Support Vector Machine (SVM), Random Forest (RF), Extreme Gradient Boosting (XGB), and Light Gradient Boosting Machine (LGBM) to classify land records as fraudulent or non-fraudulent. Only verified non-fraudulent land data is stored in the blockchain network, reducing computational overhead and enhancing efficiency. Smart contracts are deployed on the Spolia test network to validate land records, with Slither Solidity Analyzer ensuring security and vulnerability assessment. Non-fraudulent land data is securely stored in the Inter Planetary File System (IPFS), while its hash is recorded on the blockchain’s immutable ledger for data integrity and security. The system's performance is evaluated using AI accuracy metrics (ROC, log-loss score), blockchain scalability, gas cost utilization, and bandwidth efficiency. By integrating AI-driven fraud detection with blockchain’s decentralized security, the proposed system eliminates land fraud, enhances transparency, and ensures trust in agricultural land registration. </a:t>
            </a:r>
          </a:p>
        </p:txBody>
      </p:sp>
    </p:spTree>
    <p:extLst>
      <p:ext uri="{BB962C8B-B14F-4D97-AF65-F5344CB8AC3E}">
        <p14:creationId xmlns:p14="http://schemas.microsoft.com/office/powerpoint/2010/main" val="2944014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3973-5CB2-B295-1E11-CA5D4A9BE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C7439-3E46-FB72-889A-830805CBE77B}"/>
              </a:ext>
            </a:extLst>
          </p:cNvPr>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Introduction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3ACA581E-806B-0FF4-2B2A-DF0A841F0679}"/>
              </a:ext>
            </a:extLst>
          </p:cNvPr>
          <p:cNvSpPr>
            <a:spLocks noGrp="1"/>
          </p:cNvSpPr>
          <p:nvPr>
            <p:ph type="dt" sz="half" idx="10"/>
          </p:nvPr>
        </p:nvSpPr>
        <p:spPr/>
        <p:txBody>
          <a:bodyPr/>
          <a:lstStyle/>
          <a:p>
            <a:fld id="{C977F947-1F31-4877-9EB8-5993283EF907}" type="datetime1">
              <a:rPr lang="en-IN" smtClean="0"/>
              <a:t>03-04-2025</a:t>
            </a:fld>
            <a:endParaRPr lang="en-IN"/>
          </a:p>
        </p:txBody>
      </p:sp>
      <p:sp>
        <p:nvSpPr>
          <p:cNvPr id="4" name="Slide Number Placeholder 3">
            <a:extLst>
              <a:ext uri="{FF2B5EF4-FFF2-40B4-BE49-F238E27FC236}">
                <a16:creationId xmlns:a16="http://schemas.microsoft.com/office/drawing/2014/main" id="{163D1A13-6535-53E7-62C9-38B3E3917C11}"/>
              </a:ext>
            </a:extLst>
          </p:cNvPr>
          <p:cNvSpPr>
            <a:spLocks noGrp="1"/>
          </p:cNvSpPr>
          <p:nvPr>
            <p:ph type="sldNum" sz="quarter" idx="12"/>
          </p:nvPr>
        </p:nvSpPr>
        <p:spPr/>
        <p:txBody>
          <a:bodyPr/>
          <a:lstStyle/>
          <a:p>
            <a:fld id="{9D3FF152-60F5-4862-82F9-1190556AA56F}" type="slidenum">
              <a:rPr lang="en-IN" sz="1400" b="1" smtClean="0">
                <a:solidFill>
                  <a:schemeClr val="tx1"/>
                </a:solidFill>
              </a:rPr>
              <a:t>3</a:t>
            </a:fld>
            <a:endParaRPr lang="en-IN" sz="1400" b="1" dirty="0">
              <a:solidFill>
                <a:schemeClr val="tx1"/>
              </a:solidFill>
            </a:endParaRPr>
          </a:p>
        </p:txBody>
      </p:sp>
      <p:sp>
        <p:nvSpPr>
          <p:cNvPr id="5" name="TextBox 4">
            <a:extLst>
              <a:ext uri="{FF2B5EF4-FFF2-40B4-BE49-F238E27FC236}">
                <a16:creationId xmlns:a16="http://schemas.microsoft.com/office/drawing/2014/main" id="{A022CDF2-10EA-7F7B-6A0E-C3116661B0C2}"/>
              </a:ext>
            </a:extLst>
          </p:cNvPr>
          <p:cNvSpPr txBox="1"/>
          <p:nvPr/>
        </p:nvSpPr>
        <p:spPr>
          <a:xfrm>
            <a:off x="1120588" y="1604682"/>
            <a:ext cx="7394762" cy="369332"/>
          </a:xfrm>
          <a:prstGeom prst="rect">
            <a:avLst/>
          </a:prstGeom>
          <a:noFill/>
        </p:spPr>
        <p:txBody>
          <a:bodyPr wrap="square" rtlCol="0">
            <a:spAutoFit/>
          </a:bodyPr>
          <a:lstStyle/>
          <a:p>
            <a:endParaRPr lang="en-IN" dirty="0"/>
          </a:p>
        </p:txBody>
      </p:sp>
      <p:sp>
        <p:nvSpPr>
          <p:cNvPr id="6" name="Footer Placeholder 5">
            <a:extLst>
              <a:ext uri="{FF2B5EF4-FFF2-40B4-BE49-F238E27FC236}">
                <a16:creationId xmlns:a16="http://schemas.microsoft.com/office/drawing/2014/main" id="{18C2F2CF-9D19-6907-22FC-54C42EE15594}"/>
              </a:ext>
            </a:extLst>
          </p:cNvPr>
          <p:cNvSpPr>
            <a:spLocks noGrp="1"/>
          </p:cNvSpPr>
          <p:nvPr>
            <p:ph type="ftr" sz="quarter" idx="11"/>
          </p:nvPr>
        </p:nvSpPr>
        <p:spPr/>
        <p:txBody>
          <a:bodyPr/>
          <a:lstStyle/>
          <a:p>
            <a:r>
              <a:rPr lang="en-IN" dirty="0"/>
              <a:t>Title of the Project</a:t>
            </a:r>
          </a:p>
        </p:txBody>
      </p:sp>
      <p:sp>
        <p:nvSpPr>
          <p:cNvPr id="8" name="TextBox 7">
            <a:extLst>
              <a:ext uri="{FF2B5EF4-FFF2-40B4-BE49-F238E27FC236}">
                <a16:creationId xmlns:a16="http://schemas.microsoft.com/office/drawing/2014/main" id="{D1846862-AE58-F918-E0DF-1F08488D4B5C}"/>
              </a:ext>
            </a:extLst>
          </p:cNvPr>
          <p:cNvSpPr txBox="1"/>
          <p:nvPr/>
        </p:nvSpPr>
        <p:spPr>
          <a:xfrm>
            <a:off x="343722" y="987329"/>
            <a:ext cx="8647878" cy="4905254"/>
          </a:xfrm>
          <a:prstGeom prst="rect">
            <a:avLst/>
          </a:prstGeom>
          <a:noFill/>
        </p:spPr>
        <p:txBody>
          <a:bodyPr wrap="square">
            <a:spAutoFit/>
          </a:bodyPr>
          <a:lstStyle/>
          <a:p>
            <a:pPr algn="just">
              <a:lnSpc>
                <a:spcPct val="150000"/>
              </a:lnSpc>
              <a:spcAft>
                <a:spcPts val="1000"/>
              </a:spcAft>
              <a:buNone/>
            </a:pPr>
            <a:r>
              <a:rPr lang="en-US" sz="1400" dirty="0">
                <a:effectLst/>
                <a:latin typeface="Times New Roman" panose="02020603050405020304" pitchFamily="18" charset="0"/>
                <a:ea typeface="Times New Roman" panose="02020603050405020304" pitchFamily="18" charset="0"/>
              </a:rPr>
              <a:t>Our study aims to introduce a Blockchain-Enabled Land Registration System powered by AI to ensure secure, transparent, and tamper-proof land ownership records in agriculture, enhancing trust and reducing fraud in the agricultural sector. This project aims to develop a secure and transparent land registration system for the agricultural sector using blockchain and AI technologies. Land ownership is a critical aspect of sustainability and development in agriculture, but the current land registration systems are often vulnerable to fraud and manipulation. By utilizing blockchain, we ensure that land records are immutable and tamper-proof, providing a trustworthy system for verifying ownership. AI models such as logistic regression, support vector machines, and random forests are used to detect and identify fraudulent data before it is entered into the blockchain. Only verified, non-fraudulent land data is stored on the blockchain, minimizing unnecessary computational load. Smart contracts are incorporated for land data validation, ensuring efficiency, accuracy, and security in the process. Additionally, non-fraudulent land information is securely stored on the Interplanetary File System (IPFS), and its hash is recorded on the blockchain, ensuring both accessibility and protection. The entire system undergoes a rigorous assessment for performance, including evaluating AI accuracy, blockchain scalability, and smart contract vulnerability, guaranteeing a robust and efficient solution. The Agri Safe system aims to provide a transparent, fraud-resistant method for land registration, which fosters trust among stakeholders and significantly reduces the risks of land disputes and ownership fraud in agriculture.</a:t>
            </a:r>
            <a:endParaRPr lang="en-IN" sz="14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21183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Objective of the Project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382B3EE2-24C4-940E-3786-D25689664F2D}"/>
              </a:ext>
            </a:extLst>
          </p:cNvPr>
          <p:cNvSpPr>
            <a:spLocks noGrp="1"/>
          </p:cNvSpPr>
          <p:nvPr>
            <p:ph type="dt" sz="half" idx="10"/>
          </p:nvPr>
        </p:nvSpPr>
        <p:spPr/>
        <p:txBody>
          <a:bodyPr/>
          <a:lstStyle/>
          <a:p>
            <a:fld id="{E240EEE6-4B32-429E-9D31-2A4B6FDCD129}" type="datetime1">
              <a:rPr lang="en-IN" smtClean="0"/>
              <a:t>03-04-2025</a:t>
            </a:fld>
            <a:endParaRPr lang="en-IN"/>
          </a:p>
        </p:txBody>
      </p:sp>
      <p:sp>
        <p:nvSpPr>
          <p:cNvPr id="4" name="Slide Number Placeholder 3">
            <a:extLst>
              <a:ext uri="{FF2B5EF4-FFF2-40B4-BE49-F238E27FC236}">
                <a16:creationId xmlns:a16="http://schemas.microsoft.com/office/drawing/2014/main" id="{53EE05FC-38D6-EA45-0957-044D82E81D3A}"/>
              </a:ext>
            </a:extLst>
          </p:cNvPr>
          <p:cNvSpPr>
            <a:spLocks noGrp="1"/>
          </p:cNvSpPr>
          <p:nvPr>
            <p:ph type="sldNum" sz="quarter" idx="12"/>
          </p:nvPr>
        </p:nvSpPr>
        <p:spPr>
          <a:xfrm>
            <a:off x="6457949" y="6356351"/>
            <a:ext cx="2353541" cy="365125"/>
          </a:xfrm>
        </p:spPr>
        <p:txBody>
          <a:bodyPr/>
          <a:lstStyle/>
          <a:p>
            <a:fld id="{9D3FF152-60F5-4862-82F9-1190556AA56F}" type="slidenum">
              <a:rPr lang="en-IN" sz="1400" b="1" smtClean="0">
                <a:solidFill>
                  <a:schemeClr val="tx1"/>
                </a:solidFill>
              </a:rPr>
              <a:t>4</a:t>
            </a:fld>
            <a:endParaRPr lang="en-IN" b="1" dirty="0">
              <a:solidFill>
                <a:schemeClr val="tx1"/>
              </a:solidFill>
            </a:endParaRPr>
          </a:p>
        </p:txBody>
      </p:sp>
      <p:sp>
        <p:nvSpPr>
          <p:cNvPr id="5" name="Footer Placeholder 4">
            <a:extLst>
              <a:ext uri="{FF2B5EF4-FFF2-40B4-BE49-F238E27FC236}">
                <a16:creationId xmlns:a16="http://schemas.microsoft.com/office/drawing/2014/main" id="{8CD5E941-ED13-F9B3-3E1F-432A1F9B3DCB}"/>
              </a:ext>
            </a:extLst>
          </p:cNvPr>
          <p:cNvSpPr>
            <a:spLocks noGrp="1"/>
          </p:cNvSpPr>
          <p:nvPr>
            <p:ph type="ftr" sz="quarter" idx="11"/>
          </p:nvPr>
        </p:nvSpPr>
        <p:spPr/>
        <p:txBody>
          <a:bodyPr/>
          <a:lstStyle/>
          <a:p>
            <a:r>
              <a:rPr lang="en-IN"/>
              <a:t>Title of the Project</a:t>
            </a:r>
          </a:p>
        </p:txBody>
      </p:sp>
      <p:sp>
        <p:nvSpPr>
          <p:cNvPr id="7" name="TextBox 6">
            <a:extLst>
              <a:ext uri="{FF2B5EF4-FFF2-40B4-BE49-F238E27FC236}">
                <a16:creationId xmlns:a16="http://schemas.microsoft.com/office/drawing/2014/main" id="{EDD83260-2AC8-C07B-8257-C3162A72CC5D}"/>
              </a:ext>
            </a:extLst>
          </p:cNvPr>
          <p:cNvSpPr txBox="1"/>
          <p:nvPr/>
        </p:nvSpPr>
        <p:spPr>
          <a:xfrm>
            <a:off x="504190" y="1294793"/>
            <a:ext cx="8007350" cy="4268413"/>
          </a:xfrm>
          <a:prstGeom prst="rect">
            <a:avLst/>
          </a:prstGeom>
          <a:noFill/>
        </p:spPr>
        <p:txBody>
          <a:bodyPr wrap="square">
            <a:spAutoFit/>
          </a:bodyPr>
          <a:lstStyle/>
          <a:p>
            <a:pPr>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Project Scope:</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7200" algn="just">
              <a:lnSpc>
                <a:spcPct val="150000"/>
              </a:lnSpc>
              <a:spcAft>
                <a:spcPts val="8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The proposed system enhances the existing system solution by integrating advanced features for stronger land registration, improved performance, and broader applicability across agriculture and other industries. AI models, including XGB and LGBM, will improve fraud detection and handle more complex data. A real-time monitoring system will detect and alert authorities to potential fraud, ensuring quicker intervention. Dynamic smart contracts will adapt to changing laws and improve data validation. Interoperability with external land registries and GIS will enhance accuracy. Scalability improvements, such as sharding, will handle increased data volume. Decentralized identity management ensures privacy and security for landowners. Advanced vulnerability detection tools will enhance smart contract security. AI will also promote sustainable land practices. The system will feature an intuitive interface for better user experience and easier access to land records. These improvements ensure a more secure, efficient, and scalable solution for land registration.</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None/>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322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FCACADF-1635-558B-04DA-FD992F91EEEC}"/>
              </a:ext>
            </a:extLst>
          </p:cNvPr>
          <p:cNvSpPr>
            <a:spLocks noGrp="1"/>
          </p:cNvSpPr>
          <p:nvPr>
            <p:ph type="dt" sz="half" idx="10"/>
          </p:nvPr>
        </p:nvSpPr>
        <p:spPr/>
        <p:txBody>
          <a:bodyPr/>
          <a:lstStyle/>
          <a:p>
            <a:fld id="{F2382B28-C76E-421D-85B3-89C9075D36D4}" type="datetime1">
              <a:rPr lang="en-IN" smtClean="0"/>
              <a:t>03-04-2025</a:t>
            </a:fld>
            <a:endParaRPr lang="en-IN"/>
          </a:p>
        </p:txBody>
      </p:sp>
      <p:sp>
        <p:nvSpPr>
          <p:cNvPr id="6" name="Slide Number Placeholder 5">
            <a:extLst>
              <a:ext uri="{FF2B5EF4-FFF2-40B4-BE49-F238E27FC236}">
                <a16:creationId xmlns:a16="http://schemas.microsoft.com/office/drawing/2014/main" id="{1F558AD7-1919-A8D4-08D5-EFFEF53BCAAA}"/>
              </a:ext>
            </a:extLst>
          </p:cNvPr>
          <p:cNvSpPr>
            <a:spLocks noGrp="1"/>
          </p:cNvSpPr>
          <p:nvPr>
            <p:ph type="sldNum" sz="quarter" idx="12"/>
          </p:nvPr>
        </p:nvSpPr>
        <p:spPr/>
        <p:txBody>
          <a:bodyPr/>
          <a:lstStyle/>
          <a:p>
            <a:fld id="{9D3FF152-60F5-4862-82F9-1190556AA56F}" type="slidenum">
              <a:rPr lang="en-IN" sz="1400" b="1" smtClean="0">
                <a:solidFill>
                  <a:schemeClr val="tx1"/>
                </a:solidFill>
              </a:rPr>
              <a:t>5</a:t>
            </a:fld>
            <a:endParaRPr lang="en-IN" sz="1400" b="1" dirty="0">
              <a:solidFill>
                <a:schemeClr val="tx1"/>
              </a:solidFill>
            </a:endParaRPr>
          </a:p>
        </p:txBody>
      </p:sp>
      <p:sp>
        <p:nvSpPr>
          <p:cNvPr id="3" name="Footer Placeholder 2">
            <a:extLst>
              <a:ext uri="{FF2B5EF4-FFF2-40B4-BE49-F238E27FC236}">
                <a16:creationId xmlns:a16="http://schemas.microsoft.com/office/drawing/2014/main" id="{22F822A3-7A79-DF90-FA03-D964E6FDB281}"/>
              </a:ext>
            </a:extLst>
          </p:cNvPr>
          <p:cNvSpPr>
            <a:spLocks noGrp="1"/>
          </p:cNvSpPr>
          <p:nvPr>
            <p:ph type="ftr" sz="quarter" idx="11"/>
          </p:nvPr>
        </p:nvSpPr>
        <p:spPr/>
        <p:txBody>
          <a:bodyPr/>
          <a:lstStyle/>
          <a:p>
            <a:r>
              <a:rPr lang="en-IN"/>
              <a:t>Title of the Project</a:t>
            </a:r>
          </a:p>
        </p:txBody>
      </p:sp>
      <p:graphicFrame>
        <p:nvGraphicFramePr>
          <p:cNvPr id="7" name="Table 6">
            <a:extLst>
              <a:ext uri="{FF2B5EF4-FFF2-40B4-BE49-F238E27FC236}">
                <a16:creationId xmlns:a16="http://schemas.microsoft.com/office/drawing/2014/main" id="{8D289909-1297-D055-1FF1-F1AF7E50EF83}"/>
              </a:ext>
            </a:extLst>
          </p:cNvPr>
          <p:cNvGraphicFramePr>
            <a:graphicFrameLocks noGrp="1"/>
          </p:cNvGraphicFramePr>
          <p:nvPr>
            <p:extLst>
              <p:ext uri="{D42A27DB-BD31-4B8C-83A1-F6EECF244321}">
                <p14:modId xmlns:p14="http://schemas.microsoft.com/office/powerpoint/2010/main" val="4165279669"/>
              </p:ext>
            </p:extLst>
          </p:nvPr>
        </p:nvGraphicFramePr>
        <p:xfrm>
          <a:off x="172719" y="701618"/>
          <a:ext cx="8798561" cy="5064999"/>
        </p:xfrm>
        <a:graphic>
          <a:graphicData uri="http://schemas.openxmlformats.org/drawingml/2006/table">
            <a:tbl>
              <a:tblPr firstRow="1" bandRow="1">
                <a:tableStyleId>{5C22544A-7EE6-4342-B048-85BDC9FD1C3A}</a:tableStyleId>
              </a:tblPr>
              <a:tblGrid>
                <a:gridCol w="477520">
                  <a:extLst>
                    <a:ext uri="{9D8B030D-6E8A-4147-A177-3AD203B41FA5}">
                      <a16:colId xmlns:a16="http://schemas.microsoft.com/office/drawing/2014/main" val="576573816"/>
                    </a:ext>
                  </a:extLst>
                </a:gridCol>
                <a:gridCol w="2123440">
                  <a:extLst>
                    <a:ext uri="{9D8B030D-6E8A-4147-A177-3AD203B41FA5}">
                      <a16:colId xmlns:a16="http://schemas.microsoft.com/office/drawing/2014/main" val="4030395792"/>
                    </a:ext>
                  </a:extLst>
                </a:gridCol>
                <a:gridCol w="2397760">
                  <a:extLst>
                    <a:ext uri="{9D8B030D-6E8A-4147-A177-3AD203B41FA5}">
                      <a16:colId xmlns:a16="http://schemas.microsoft.com/office/drawing/2014/main" val="4088465073"/>
                    </a:ext>
                  </a:extLst>
                </a:gridCol>
                <a:gridCol w="1803442">
                  <a:extLst>
                    <a:ext uri="{9D8B030D-6E8A-4147-A177-3AD203B41FA5}">
                      <a16:colId xmlns:a16="http://schemas.microsoft.com/office/drawing/2014/main" val="3010328163"/>
                    </a:ext>
                  </a:extLst>
                </a:gridCol>
                <a:gridCol w="878412">
                  <a:extLst>
                    <a:ext uri="{9D8B030D-6E8A-4147-A177-3AD203B41FA5}">
                      <a16:colId xmlns:a16="http://schemas.microsoft.com/office/drawing/2014/main" val="2019138274"/>
                    </a:ext>
                  </a:extLst>
                </a:gridCol>
                <a:gridCol w="1117987">
                  <a:extLst>
                    <a:ext uri="{9D8B030D-6E8A-4147-A177-3AD203B41FA5}">
                      <a16:colId xmlns:a16="http://schemas.microsoft.com/office/drawing/2014/main" val="3692483625"/>
                    </a:ext>
                  </a:extLst>
                </a:gridCol>
              </a:tblGrid>
              <a:tr h="745029">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Authors</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Title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Source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Pages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Date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06909398"/>
                  </a:ext>
                </a:extLst>
              </a:tr>
              <a:tr h="431643">
                <a:tc>
                  <a:txBody>
                    <a:bodyPr/>
                    <a:lstStyle/>
                    <a:p>
                      <a:pPr>
                        <a:lnSpc>
                          <a:spcPct val="150000"/>
                        </a:lnSpc>
                      </a:pPr>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R. Sidharthan, V. R. Balasaraswathi</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400">
                          <a:latin typeface="Times New Roman" panose="02020603050405020304" pitchFamily="18" charset="0"/>
                          <a:cs typeface="Times New Roman" panose="02020603050405020304" pitchFamily="18" charset="0"/>
                        </a:rPr>
                        <a:t>Secured land registration using Ethereum blockchain and IPFS</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400">
                          <a:latin typeface="Times New Roman" panose="02020603050405020304" pitchFamily="18" charset="0"/>
                          <a:cs typeface="Times New Roman" panose="02020603050405020304" pitchFamily="18" charset="0"/>
                        </a:rPr>
                        <a:t>Proc. 3rd Int. Conf. Appl. Artif. Intell. Comput. (ICAAIC)</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1449-1454</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Jun. 2024</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012150"/>
                  </a:ext>
                </a:extLst>
              </a:tr>
              <a:tr h="431643">
                <a:tc>
                  <a:txBody>
                    <a:bodyPr/>
                    <a:lstStyle/>
                    <a:p>
                      <a:pPr>
                        <a:lnSpc>
                          <a:spcPct val="150000"/>
                        </a:lnSpc>
                      </a:pPr>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I. Haider, M. A. Khan, M. Nazir, A. Hamza, O. Alqahtani, M. T.-H. Alouane, et al.</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Crops leaf disease recognition from digital and RS imaging using fusion of multi self-attention RBNet deep architectures and modified dragonfly optimization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IEEE J. Sel. Topics Appl. Earth Observ. Remote Sens.</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17, pp. 7260-7277</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2024</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70453431"/>
                  </a:ext>
                </a:extLst>
              </a:tr>
              <a:tr h="431643">
                <a:tc>
                  <a:txBody>
                    <a:bodyPr/>
                    <a:lstStyle/>
                    <a:p>
                      <a:pPr>
                        <a:lnSpc>
                          <a:spcPct val="150000"/>
                        </a:lnSpc>
                      </a:pPr>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M. Stefanovic, D. Przulj, S. Ristic, D. Stefanovic, and D. Nikolic</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Smart Contract Application for Managing Land Administration System Transactions</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IEEE Access</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39154–39176</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2022</a:t>
                      </a:r>
                    </a:p>
                  </a:txBody>
                  <a:tcPr anchor="ctr"/>
                </a:tc>
                <a:extLst>
                  <a:ext uri="{0D108BD9-81ED-4DB2-BD59-A6C34878D82A}">
                    <a16:rowId xmlns:a16="http://schemas.microsoft.com/office/drawing/2014/main" val="506451226"/>
                  </a:ext>
                </a:extLst>
              </a:tr>
            </a:tbl>
          </a:graphicData>
        </a:graphic>
      </p:graphicFrame>
    </p:spTree>
    <p:extLst>
      <p:ext uri="{BB962C8B-B14F-4D97-AF65-F5344CB8AC3E}">
        <p14:creationId xmlns:p14="http://schemas.microsoft.com/office/powerpoint/2010/main" val="3343324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FCACADF-1635-558B-04DA-FD992F91EEEC}"/>
              </a:ext>
            </a:extLst>
          </p:cNvPr>
          <p:cNvSpPr>
            <a:spLocks noGrp="1"/>
          </p:cNvSpPr>
          <p:nvPr>
            <p:ph type="dt" sz="half" idx="10"/>
          </p:nvPr>
        </p:nvSpPr>
        <p:spPr/>
        <p:txBody>
          <a:bodyPr/>
          <a:lstStyle/>
          <a:p>
            <a:fld id="{AFFC6AC0-F66E-4680-867A-834DA76782D9}" type="datetime1">
              <a:rPr lang="en-IN" smtClean="0"/>
              <a:t>03-04-2025</a:t>
            </a:fld>
            <a:endParaRPr lang="en-IN"/>
          </a:p>
        </p:txBody>
      </p:sp>
      <p:sp>
        <p:nvSpPr>
          <p:cNvPr id="6" name="Slide Number Placeholder 5">
            <a:extLst>
              <a:ext uri="{FF2B5EF4-FFF2-40B4-BE49-F238E27FC236}">
                <a16:creationId xmlns:a16="http://schemas.microsoft.com/office/drawing/2014/main" id="{1F558AD7-1919-A8D4-08D5-EFFEF53BCAAA}"/>
              </a:ext>
            </a:extLst>
          </p:cNvPr>
          <p:cNvSpPr>
            <a:spLocks noGrp="1"/>
          </p:cNvSpPr>
          <p:nvPr>
            <p:ph type="sldNum" sz="quarter" idx="12"/>
          </p:nvPr>
        </p:nvSpPr>
        <p:spPr>
          <a:xfrm>
            <a:off x="6634596" y="6326884"/>
            <a:ext cx="2057400" cy="365125"/>
          </a:xfrm>
        </p:spPr>
        <p:txBody>
          <a:bodyPr/>
          <a:lstStyle/>
          <a:p>
            <a:fld id="{9D3FF152-60F5-4862-82F9-1190556AA56F}" type="slidenum">
              <a:rPr lang="en-IN" sz="1400" b="1" smtClean="0">
                <a:solidFill>
                  <a:schemeClr val="tx1"/>
                </a:solidFill>
              </a:rPr>
              <a:t>6</a:t>
            </a:fld>
            <a:endParaRPr lang="en-IN" sz="1400" b="1" dirty="0">
              <a:solidFill>
                <a:schemeClr val="tx1"/>
              </a:solidFill>
            </a:endParaRPr>
          </a:p>
        </p:txBody>
      </p:sp>
      <p:sp>
        <p:nvSpPr>
          <p:cNvPr id="3" name="Footer Placeholder 2">
            <a:extLst>
              <a:ext uri="{FF2B5EF4-FFF2-40B4-BE49-F238E27FC236}">
                <a16:creationId xmlns:a16="http://schemas.microsoft.com/office/drawing/2014/main" id="{073B1E47-29EC-9121-AE1A-4F8710431E06}"/>
              </a:ext>
            </a:extLst>
          </p:cNvPr>
          <p:cNvSpPr>
            <a:spLocks noGrp="1"/>
          </p:cNvSpPr>
          <p:nvPr>
            <p:ph type="ftr" sz="quarter" idx="11"/>
          </p:nvPr>
        </p:nvSpPr>
        <p:spPr/>
        <p:txBody>
          <a:bodyPr/>
          <a:lstStyle/>
          <a:p>
            <a:r>
              <a:rPr lang="en-IN"/>
              <a:t>Title of the Project</a:t>
            </a:r>
          </a:p>
        </p:txBody>
      </p:sp>
      <p:graphicFrame>
        <p:nvGraphicFramePr>
          <p:cNvPr id="4" name="Table 3">
            <a:extLst>
              <a:ext uri="{FF2B5EF4-FFF2-40B4-BE49-F238E27FC236}">
                <a16:creationId xmlns:a16="http://schemas.microsoft.com/office/drawing/2014/main" id="{9F8CB90D-3601-C441-3CD0-E8AE773465E3}"/>
              </a:ext>
            </a:extLst>
          </p:cNvPr>
          <p:cNvGraphicFramePr>
            <a:graphicFrameLocks noGrp="1"/>
          </p:cNvGraphicFramePr>
          <p:nvPr>
            <p:extLst>
              <p:ext uri="{D42A27DB-BD31-4B8C-83A1-F6EECF244321}">
                <p14:modId xmlns:p14="http://schemas.microsoft.com/office/powerpoint/2010/main" val="762586909"/>
              </p:ext>
            </p:extLst>
          </p:nvPr>
        </p:nvGraphicFramePr>
        <p:xfrm>
          <a:off x="233680" y="970280"/>
          <a:ext cx="8641078" cy="5074921"/>
        </p:xfrm>
        <a:graphic>
          <a:graphicData uri="http://schemas.openxmlformats.org/drawingml/2006/table">
            <a:tbl>
              <a:tblPr firstRow="1" bandRow="1">
                <a:tableStyleId>{5C22544A-7EE6-4342-B048-85BDC9FD1C3A}</a:tableStyleId>
              </a:tblPr>
              <a:tblGrid>
                <a:gridCol w="576411">
                  <a:extLst>
                    <a:ext uri="{9D8B030D-6E8A-4147-A177-3AD203B41FA5}">
                      <a16:colId xmlns:a16="http://schemas.microsoft.com/office/drawing/2014/main" val="1143148145"/>
                    </a:ext>
                  </a:extLst>
                </a:gridCol>
                <a:gridCol w="1856761">
                  <a:extLst>
                    <a:ext uri="{9D8B030D-6E8A-4147-A177-3AD203B41FA5}">
                      <a16:colId xmlns:a16="http://schemas.microsoft.com/office/drawing/2014/main" val="2211825958"/>
                    </a:ext>
                  </a:extLst>
                </a:gridCol>
                <a:gridCol w="2438274">
                  <a:extLst>
                    <a:ext uri="{9D8B030D-6E8A-4147-A177-3AD203B41FA5}">
                      <a16:colId xmlns:a16="http://schemas.microsoft.com/office/drawing/2014/main" val="1010670947"/>
                    </a:ext>
                  </a:extLst>
                </a:gridCol>
                <a:gridCol w="1775145">
                  <a:extLst>
                    <a:ext uri="{9D8B030D-6E8A-4147-A177-3AD203B41FA5}">
                      <a16:colId xmlns:a16="http://schemas.microsoft.com/office/drawing/2014/main" val="2712518243"/>
                    </a:ext>
                  </a:extLst>
                </a:gridCol>
                <a:gridCol w="1030400">
                  <a:extLst>
                    <a:ext uri="{9D8B030D-6E8A-4147-A177-3AD203B41FA5}">
                      <a16:colId xmlns:a16="http://schemas.microsoft.com/office/drawing/2014/main" val="4064174825"/>
                    </a:ext>
                  </a:extLst>
                </a:gridCol>
                <a:gridCol w="964087">
                  <a:extLst>
                    <a:ext uri="{9D8B030D-6E8A-4147-A177-3AD203B41FA5}">
                      <a16:colId xmlns:a16="http://schemas.microsoft.com/office/drawing/2014/main" val="2072755696"/>
                    </a:ext>
                  </a:extLst>
                </a:gridCol>
              </a:tblGrid>
              <a:tr h="749620">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Authors</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Title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Source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Pages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Date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50278374"/>
                  </a:ext>
                </a:extLst>
              </a:tr>
              <a:tr h="1441767">
                <a:tc>
                  <a:txBody>
                    <a:bodyPr/>
                    <a:lstStyle/>
                    <a:p>
                      <a:pPr>
                        <a:lnSpc>
                          <a:spcPct val="150000"/>
                        </a:lnSpc>
                      </a:pPr>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fi-FI" sz="1400">
                          <a:latin typeface="Times New Roman" panose="02020603050405020304" pitchFamily="18" charset="0"/>
                          <a:cs typeface="Times New Roman" panose="02020603050405020304" pitchFamily="18" charset="0"/>
                        </a:rPr>
                        <a:t>A. L. Shrivastava, R. Kumar Dwivedi</a:t>
                      </a:r>
                      <a:endParaRPr lang="fi-FI"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Blockchain-based secure land registry system using efficient smart contract</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Proc. Int. Conf. Intell. Data Commun. Technol. Internet Things (IDCIoT)</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165-170</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Jan. 2023</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01730274"/>
                  </a:ext>
                </a:extLst>
              </a:tr>
              <a:tr h="1441767">
                <a:tc>
                  <a:txBody>
                    <a:bodyPr/>
                    <a:lstStyle/>
                    <a:p>
                      <a:pPr>
                        <a:lnSpc>
                          <a:spcPct val="150000"/>
                        </a:lnSpc>
                      </a:pPr>
                      <a:r>
                        <a:rPr lang="en-US" sz="1400"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G. Kusuma, C. Rupa, S. Reshma, G. Rochana</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Secure storage of land records and implementation of land registration using Ethereum blockchain</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Proc. 3rd Int. Conf. Artif. Intell. Smart Energy (ICAIS)</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404-409</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Feb. 2023</a:t>
                      </a:r>
                    </a:p>
                  </a:txBody>
                  <a:tcPr anchor="ctr"/>
                </a:tc>
                <a:extLst>
                  <a:ext uri="{0D108BD9-81ED-4DB2-BD59-A6C34878D82A}">
                    <a16:rowId xmlns:a16="http://schemas.microsoft.com/office/drawing/2014/main" val="2899514203"/>
                  </a:ext>
                </a:extLst>
              </a:tr>
              <a:tr h="1441767">
                <a:tc>
                  <a:txBody>
                    <a:bodyPr/>
                    <a:lstStyle/>
                    <a:p>
                      <a:pPr>
                        <a:lnSpc>
                          <a:spcPct val="150000"/>
                        </a:lnSpc>
                      </a:pPr>
                      <a:r>
                        <a:rPr lang="en-US" sz="1400" dirty="0">
                          <a:latin typeface="Times New Roman" panose="02020603050405020304" pitchFamily="18" charset="0"/>
                          <a:cs typeface="Times New Roman" panose="02020603050405020304" pitchFamily="18" charset="0"/>
                        </a:rPr>
                        <a:t>6</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S. Dubey, D. Vinod, A. Gupta, R. K. Dwivedi</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Secure land registration management via Ethereum blockchain</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Proc. Int. Conf. Intell. Data Commun. Technol. Internet Things (IDCIoT)</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185-191</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Jan. 2023</a:t>
                      </a:r>
                    </a:p>
                  </a:txBody>
                  <a:tcPr anchor="ctr"/>
                </a:tc>
                <a:extLst>
                  <a:ext uri="{0D108BD9-81ED-4DB2-BD59-A6C34878D82A}">
                    <a16:rowId xmlns:a16="http://schemas.microsoft.com/office/drawing/2014/main" val="3653111569"/>
                  </a:ext>
                </a:extLst>
              </a:tr>
            </a:tbl>
          </a:graphicData>
        </a:graphic>
      </p:graphicFrame>
    </p:spTree>
    <p:extLst>
      <p:ext uri="{BB962C8B-B14F-4D97-AF65-F5344CB8AC3E}">
        <p14:creationId xmlns:p14="http://schemas.microsoft.com/office/powerpoint/2010/main" val="3295057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FCACADF-1635-558B-04DA-FD992F91EEEC}"/>
              </a:ext>
            </a:extLst>
          </p:cNvPr>
          <p:cNvSpPr>
            <a:spLocks noGrp="1"/>
          </p:cNvSpPr>
          <p:nvPr>
            <p:ph type="dt" sz="half" idx="10"/>
          </p:nvPr>
        </p:nvSpPr>
        <p:spPr/>
        <p:txBody>
          <a:bodyPr/>
          <a:lstStyle/>
          <a:p>
            <a:fld id="{4ACA647B-CC1E-4879-8F53-17A93E4F0425}" type="datetime1">
              <a:rPr lang="en-IN" smtClean="0"/>
              <a:t>03-04-2025</a:t>
            </a:fld>
            <a:endParaRPr lang="en-IN"/>
          </a:p>
        </p:txBody>
      </p:sp>
      <p:sp>
        <p:nvSpPr>
          <p:cNvPr id="6" name="Slide Number Placeholder 5">
            <a:extLst>
              <a:ext uri="{FF2B5EF4-FFF2-40B4-BE49-F238E27FC236}">
                <a16:creationId xmlns:a16="http://schemas.microsoft.com/office/drawing/2014/main" id="{1F558AD7-1919-A8D4-08D5-EFFEF53BCAAA}"/>
              </a:ext>
            </a:extLst>
          </p:cNvPr>
          <p:cNvSpPr>
            <a:spLocks noGrp="1"/>
          </p:cNvSpPr>
          <p:nvPr>
            <p:ph type="sldNum" sz="quarter" idx="12"/>
          </p:nvPr>
        </p:nvSpPr>
        <p:spPr/>
        <p:txBody>
          <a:bodyPr/>
          <a:lstStyle/>
          <a:p>
            <a:fld id="{9D3FF152-60F5-4862-82F9-1190556AA56F}" type="slidenum">
              <a:rPr lang="en-IN" sz="1400" b="1" smtClean="0">
                <a:solidFill>
                  <a:schemeClr val="tx1"/>
                </a:solidFill>
              </a:rPr>
              <a:t>7</a:t>
            </a:fld>
            <a:endParaRPr lang="en-IN" sz="1400" b="1" dirty="0">
              <a:solidFill>
                <a:schemeClr val="tx1"/>
              </a:solidFill>
            </a:endParaRPr>
          </a:p>
        </p:txBody>
      </p:sp>
      <p:sp>
        <p:nvSpPr>
          <p:cNvPr id="3" name="Footer Placeholder 2">
            <a:extLst>
              <a:ext uri="{FF2B5EF4-FFF2-40B4-BE49-F238E27FC236}">
                <a16:creationId xmlns:a16="http://schemas.microsoft.com/office/drawing/2014/main" id="{B59EF146-C917-6BFF-41BA-3CEBC346E67B}"/>
              </a:ext>
            </a:extLst>
          </p:cNvPr>
          <p:cNvSpPr>
            <a:spLocks noGrp="1"/>
          </p:cNvSpPr>
          <p:nvPr>
            <p:ph type="ftr" sz="quarter" idx="11"/>
          </p:nvPr>
        </p:nvSpPr>
        <p:spPr/>
        <p:txBody>
          <a:bodyPr/>
          <a:lstStyle/>
          <a:p>
            <a:r>
              <a:rPr lang="en-IN"/>
              <a:t>Title of the Project</a:t>
            </a:r>
          </a:p>
        </p:txBody>
      </p:sp>
      <p:graphicFrame>
        <p:nvGraphicFramePr>
          <p:cNvPr id="4" name="Table 3">
            <a:extLst>
              <a:ext uri="{FF2B5EF4-FFF2-40B4-BE49-F238E27FC236}">
                <a16:creationId xmlns:a16="http://schemas.microsoft.com/office/drawing/2014/main" id="{4BD10D82-C96D-4424-D4A9-4017FD50DF61}"/>
              </a:ext>
            </a:extLst>
          </p:cNvPr>
          <p:cNvGraphicFramePr>
            <a:graphicFrameLocks noGrp="1"/>
          </p:cNvGraphicFramePr>
          <p:nvPr>
            <p:extLst>
              <p:ext uri="{D42A27DB-BD31-4B8C-83A1-F6EECF244321}">
                <p14:modId xmlns:p14="http://schemas.microsoft.com/office/powerpoint/2010/main" val="1627486289"/>
              </p:ext>
            </p:extLst>
          </p:nvPr>
        </p:nvGraphicFramePr>
        <p:xfrm>
          <a:off x="182880" y="970280"/>
          <a:ext cx="8783955" cy="4150360"/>
        </p:xfrm>
        <a:graphic>
          <a:graphicData uri="http://schemas.openxmlformats.org/drawingml/2006/table">
            <a:tbl>
              <a:tblPr firstRow="1" bandRow="1">
                <a:tableStyleId>{5C22544A-7EE6-4342-B048-85BDC9FD1C3A}</a:tableStyleId>
              </a:tblPr>
              <a:tblGrid>
                <a:gridCol w="350344">
                  <a:extLst>
                    <a:ext uri="{9D8B030D-6E8A-4147-A177-3AD203B41FA5}">
                      <a16:colId xmlns:a16="http://schemas.microsoft.com/office/drawing/2014/main" val="61784877"/>
                    </a:ext>
                  </a:extLst>
                </a:gridCol>
                <a:gridCol w="1875262">
                  <a:extLst>
                    <a:ext uri="{9D8B030D-6E8A-4147-A177-3AD203B41FA5}">
                      <a16:colId xmlns:a16="http://schemas.microsoft.com/office/drawing/2014/main" val="1496141223"/>
                    </a:ext>
                  </a:extLst>
                </a:gridCol>
                <a:gridCol w="2838235">
                  <a:extLst>
                    <a:ext uri="{9D8B030D-6E8A-4147-A177-3AD203B41FA5}">
                      <a16:colId xmlns:a16="http://schemas.microsoft.com/office/drawing/2014/main" val="1811734773"/>
                    </a:ext>
                  </a:extLst>
                </a:gridCol>
                <a:gridCol w="1832144">
                  <a:extLst>
                    <a:ext uri="{9D8B030D-6E8A-4147-A177-3AD203B41FA5}">
                      <a16:colId xmlns:a16="http://schemas.microsoft.com/office/drawing/2014/main" val="3745820782"/>
                    </a:ext>
                  </a:extLst>
                </a:gridCol>
                <a:gridCol w="1067557">
                  <a:extLst>
                    <a:ext uri="{9D8B030D-6E8A-4147-A177-3AD203B41FA5}">
                      <a16:colId xmlns:a16="http://schemas.microsoft.com/office/drawing/2014/main" val="23079628"/>
                    </a:ext>
                  </a:extLst>
                </a:gridCol>
                <a:gridCol w="820413">
                  <a:extLst>
                    <a:ext uri="{9D8B030D-6E8A-4147-A177-3AD203B41FA5}">
                      <a16:colId xmlns:a16="http://schemas.microsoft.com/office/drawing/2014/main" val="1284052149"/>
                    </a:ext>
                  </a:extLst>
                </a:gridCol>
              </a:tblGrid>
              <a:tr h="762962">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Authors</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Title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Source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Pages	</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Date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6762108"/>
                  </a:ext>
                </a:extLst>
              </a:tr>
              <a:tr h="863398">
                <a:tc>
                  <a:txBody>
                    <a:bodyPr/>
                    <a:lstStyle/>
                    <a:p>
                      <a:pPr>
                        <a:lnSpc>
                          <a:spcPct val="150000"/>
                        </a:lnSpc>
                      </a:pPr>
                      <a:r>
                        <a:rPr lang="en-US" sz="1400" dirty="0">
                          <a:latin typeface="Times New Roman" panose="02020603050405020304" pitchFamily="18" charset="0"/>
                          <a:cs typeface="Times New Roman" panose="02020603050405020304" pitchFamily="18" charset="0"/>
                        </a:rPr>
                        <a:t>7</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pt-BR" sz="1400">
                          <a:latin typeface="Times New Roman" panose="02020603050405020304" pitchFamily="18" charset="0"/>
                          <a:cs typeface="Times New Roman" panose="02020603050405020304" pitchFamily="18" charset="0"/>
                        </a:rPr>
                        <a:t>N. Ncube, B. Mutunhu, K. Sibanda</a:t>
                      </a:r>
                      <a:endParaRPr lang="pt-BR"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Land registry using a distributed ledger</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Proc. IST-Africa Conf. (IST-Africa)</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1-7</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May 2022</a:t>
                      </a:r>
                    </a:p>
                  </a:txBody>
                  <a:tcPr anchor="ctr"/>
                </a:tc>
                <a:extLst>
                  <a:ext uri="{0D108BD9-81ED-4DB2-BD59-A6C34878D82A}">
                    <a16:rowId xmlns:a16="http://schemas.microsoft.com/office/drawing/2014/main" val="1322914538"/>
                  </a:ext>
                </a:extLst>
              </a:tr>
              <a:tr h="1262000">
                <a:tc>
                  <a:txBody>
                    <a:bodyPr/>
                    <a:lstStyle/>
                    <a:p>
                      <a:pPr>
                        <a:lnSpc>
                          <a:spcPct val="150000"/>
                        </a:lnSpc>
                      </a:pPr>
                      <a:r>
                        <a:rPr lang="en-US" sz="1400" dirty="0">
                          <a:latin typeface="Times New Roman" panose="02020603050405020304" pitchFamily="18" charset="0"/>
                          <a:cs typeface="Times New Roman" panose="02020603050405020304" pitchFamily="18" charset="0"/>
                        </a:rPr>
                        <a:t>8</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M. I. Khalid, J. Iqbal, A. Alturki, S. Hussain, A. Alabrah, S. S. Ullah</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Blockchain-based land registration system: A conceptual framework</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Appl. Bionics Biomechanics</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2022, pp. 1-21</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Feb. 2022</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34125251"/>
                  </a:ext>
                </a:extLst>
              </a:tr>
              <a:tr h="1262000">
                <a:tc>
                  <a:txBody>
                    <a:bodyPr/>
                    <a:lstStyle/>
                    <a:p>
                      <a:pPr>
                        <a:lnSpc>
                          <a:spcPct val="150000"/>
                        </a:lnSpc>
                      </a:pPr>
                      <a:r>
                        <a:rPr lang="en-US" sz="1400" dirty="0">
                          <a:latin typeface="Times New Roman" panose="02020603050405020304" pitchFamily="18" charset="0"/>
                          <a:cs typeface="Times New Roman" panose="02020603050405020304" pitchFamily="18" charset="0"/>
                        </a:rPr>
                        <a:t>9</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a:latin typeface="Times New Roman" panose="02020603050405020304" pitchFamily="18" charset="0"/>
                          <a:cs typeface="Times New Roman" panose="02020603050405020304" pitchFamily="18" charset="0"/>
                        </a:rPr>
                        <a:t>F. D. Rodrigues, J. M. Alonso, P. M. R. Castro</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SICAP—Cadastral information and property management system</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Proc. 17th Iberian Conf. Inf. Syst. Technol. (CISTI)</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1-6</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Jun. 2022</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08581151"/>
                  </a:ext>
                </a:extLst>
              </a:tr>
            </a:tbl>
          </a:graphicData>
        </a:graphic>
      </p:graphicFrame>
    </p:spTree>
    <p:extLst>
      <p:ext uri="{BB962C8B-B14F-4D97-AF65-F5344CB8AC3E}">
        <p14:creationId xmlns:p14="http://schemas.microsoft.com/office/powerpoint/2010/main" val="4049645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D320AE4C-C8AD-5FE8-F765-45A6576E3B0B}"/>
              </a:ext>
            </a:extLst>
          </p:cNvPr>
          <p:cNvSpPr>
            <a:spLocks noGrp="1"/>
          </p:cNvSpPr>
          <p:nvPr>
            <p:ph type="dt" sz="half" idx="10"/>
          </p:nvPr>
        </p:nvSpPr>
        <p:spPr/>
        <p:txBody>
          <a:bodyPr/>
          <a:lstStyle/>
          <a:p>
            <a:fld id="{F455D1BD-F729-4AF1-B27A-A2B4224E89E6}" type="datetime1">
              <a:rPr lang="en-IN" smtClean="0"/>
              <a:t>03-04-2025</a:t>
            </a:fld>
            <a:endParaRPr lang="en-IN"/>
          </a:p>
        </p:txBody>
      </p:sp>
      <p:sp>
        <p:nvSpPr>
          <p:cNvPr id="4" name="Slide Number Placeholder 3">
            <a:extLst>
              <a:ext uri="{FF2B5EF4-FFF2-40B4-BE49-F238E27FC236}">
                <a16:creationId xmlns:a16="http://schemas.microsoft.com/office/drawing/2014/main" id="{69985F6D-C615-D78B-6019-8D3BBB5A2B93}"/>
              </a:ext>
            </a:extLst>
          </p:cNvPr>
          <p:cNvSpPr>
            <a:spLocks noGrp="1"/>
          </p:cNvSpPr>
          <p:nvPr>
            <p:ph type="sldNum" sz="quarter" idx="12"/>
          </p:nvPr>
        </p:nvSpPr>
        <p:spPr/>
        <p:txBody>
          <a:bodyPr/>
          <a:lstStyle/>
          <a:p>
            <a:fld id="{9D3FF152-60F5-4862-82F9-1190556AA56F}" type="slidenum">
              <a:rPr lang="en-IN" sz="1400" b="1" smtClean="0">
                <a:solidFill>
                  <a:schemeClr val="tx1"/>
                </a:solidFill>
              </a:rPr>
              <a:t>8</a:t>
            </a:fld>
            <a:endParaRPr lang="en-IN" sz="1400" b="1" dirty="0">
              <a:solidFill>
                <a:schemeClr val="tx1"/>
              </a:solidFill>
            </a:endParaRPr>
          </a:p>
        </p:txBody>
      </p:sp>
      <p:sp>
        <p:nvSpPr>
          <p:cNvPr id="5" name="Footer Placeholder 4">
            <a:extLst>
              <a:ext uri="{FF2B5EF4-FFF2-40B4-BE49-F238E27FC236}">
                <a16:creationId xmlns:a16="http://schemas.microsoft.com/office/drawing/2014/main" id="{9AB47FE8-5ECE-D477-E2CB-E5C8C7F085CF}"/>
              </a:ext>
            </a:extLst>
          </p:cNvPr>
          <p:cNvSpPr>
            <a:spLocks noGrp="1"/>
          </p:cNvSpPr>
          <p:nvPr>
            <p:ph type="ftr" sz="quarter" idx="11"/>
          </p:nvPr>
        </p:nvSpPr>
        <p:spPr/>
        <p:txBody>
          <a:bodyPr/>
          <a:lstStyle/>
          <a:p>
            <a:r>
              <a:rPr lang="en-IN"/>
              <a:t>Title of the Project</a:t>
            </a:r>
          </a:p>
        </p:txBody>
      </p:sp>
      <p:sp>
        <p:nvSpPr>
          <p:cNvPr id="8" name="TextBox 7">
            <a:extLst>
              <a:ext uri="{FF2B5EF4-FFF2-40B4-BE49-F238E27FC236}">
                <a16:creationId xmlns:a16="http://schemas.microsoft.com/office/drawing/2014/main" id="{3128B647-DAD5-8267-37C0-FDF2387FE1A2}"/>
              </a:ext>
            </a:extLst>
          </p:cNvPr>
          <p:cNvSpPr txBox="1"/>
          <p:nvPr/>
        </p:nvSpPr>
        <p:spPr>
          <a:xfrm>
            <a:off x="499110" y="929579"/>
            <a:ext cx="7752080" cy="4254819"/>
          </a:xfrm>
          <a:prstGeom prst="rect">
            <a:avLst/>
          </a:prstGeom>
          <a:noFill/>
        </p:spPr>
        <p:txBody>
          <a:bodyPr wrap="square">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Problem Statements</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1. Limited AI Model Performance: Traditional AI models such as Logistic Regression and Support Vector Machines may struggle with handling complex, large-scale land registry data, leading to inefficiencies in fraud detection.  </a:t>
            </a:r>
          </a:p>
          <a:p>
            <a:pPr algn="just">
              <a:lnSpc>
                <a:spcPct val="150000"/>
              </a:lnSpc>
            </a:pPr>
            <a:r>
              <a:rPr lang="en-US" sz="1400" dirty="0">
                <a:latin typeface="Times New Roman" panose="02020603050405020304" pitchFamily="18" charset="0"/>
                <a:cs typeface="Times New Roman" panose="02020603050405020304" pitchFamily="18" charset="0"/>
              </a:rPr>
              <a:t>2. Lack of Pre-Trained Accuracy: The existing system does not leverage advanced pre-trained AI models, reducing the accuracy of fraud classification and land record verification.  </a:t>
            </a:r>
          </a:p>
          <a:p>
            <a:pPr algn="just">
              <a:lnSpc>
                <a:spcPct val="150000"/>
              </a:lnSpc>
            </a:pPr>
            <a:r>
              <a:rPr lang="en-US" sz="1400" dirty="0">
                <a:latin typeface="Times New Roman" panose="02020603050405020304" pitchFamily="18" charset="0"/>
                <a:cs typeface="Times New Roman" panose="02020603050405020304" pitchFamily="18" charset="0"/>
              </a:rPr>
              <a:t>3. Absence of Secure Land Document Generation: There is no mechanism to generate and store land documents securely, increasing the risk of forgery and unauthorized modifications.  </a:t>
            </a:r>
          </a:p>
          <a:p>
            <a:pPr algn="just">
              <a:lnSpc>
                <a:spcPct val="150000"/>
              </a:lnSpc>
            </a:pPr>
            <a:r>
              <a:rPr lang="en-US" sz="1400" dirty="0">
                <a:latin typeface="Times New Roman" panose="02020603050405020304" pitchFamily="18" charset="0"/>
                <a:cs typeface="Times New Roman" panose="02020603050405020304" pitchFamily="18" charset="0"/>
              </a:rPr>
              <a:t>4. Vulnerability to Transaction Fraud: The system lacks robust transaction validation, making it susceptible to fraudulent activities during land transfers.  </a:t>
            </a:r>
          </a:p>
          <a:p>
            <a:pPr algn="just">
              <a:lnSpc>
                <a:spcPct val="150000"/>
              </a:lnSpc>
            </a:pPr>
            <a:r>
              <a:rPr lang="en-US" sz="1400" dirty="0">
                <a:latin typeface="Times New Roman" panose="02020603050405020304" pitchFamily="18" charset="0"/>
                <a:cs typeface="Times New Roman" panose="02020603050405020304" pitchFamily="18" charset="0"/>
              </a:rPr>
              <a:t>5. Ineffective Land Fraud Detection: Existing approaches do not provide a reliable mechanism to detect and prevent land fraud, leading to disputes and unauthorized land claims.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654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Proposed System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84ED6F37-FDEB-14D6-7786-B755476111F7}"/>
              </a:ext>
            </a:extLst>
          </p:cNvPr>
          <p:cNvSpPr>
            <a:spLocks noGrp="1"/>
          </p:cNvSpPr>
          <p:nvPr>
            <p:ph type="dt" sz="half" idx="10"/>
          </p:nvPr>
        </p:nvSpPr>
        <p:spPr/>
        <p:txBody>
          <a:bodyPr/>
          <a:lstStyle/>
          <a:p>
            <a:fld id="{3487E929-4048-4FA8-8BB8-CA6B1DEE6F8B}" type="datetime1">
              <a:rPr lang="en-IN" smtClean="0"/>
              <a:t>03-04-2025</a:t>
            </a:fld>
            <a:endParaRPr lang="en-IN"/>
          </a:p>
        </p:txBody>
      </p:sp>
      <p:sp>
        <p:nvSpPr>
          <p:cNvPr id="4" name="Slide Number Placeholder 3">
            <a:extLst>
              <a:ext uri="{FF2B5EF4-FFF2-40B4-BE49-F238E27FC236}">
                <a16:creationId xmlns:a16="http://schemas.microsoft.com/office/drawing/2014/main" id="{4DB30AD6-C0F0-3ECE-0069-7C5248013755}"/>
              </a:ext>
            </a:extLst>
          </p:cNvPr>
          <p:cNvSpPr>
            <a:spLocks noGrp="1"/>
          </p:cNvSpPr>
          <p:nvPr>
            <p:ph type="sldNum" sz="quarter" idx="12"/>
          </p:nvPr>
        </p:nvSpPr>
        <p:spPr/>
        <p:txBody>
          <a:bodyPr/>
          <a:lstStyle/>
          <a:p>
            <a:fld id="{9D3FF152-60F5-4862-82F9-1190556AA56F}" type="slidenum">
              <a:rPr lang="en-IN" sz="1400" b="1" smtClean="0">
                <a:solidFill>
                  <a:schemeClr val="tx1"/>
                </a:solidFill>
              </a:rPr>
              <a:t>9</a:t>
            </a:fld>
            <a:endParaRPr lang="en-IN" sz="1400" b="1" dirty="0">
              <a:solidFill>
                <a:schemeClr val="tx1"/>
              </a:solidFill>
            </a:endParaRPr>
          </a:p>
        </p:txBody>
      </p:sp>
      <p:sp>
        <p:nvSpPr>
          <p:cNvPr id="5" name="Footer Placeholder 4">
            <a:extLst>
              <a:ext uri="{FF2B5EF4-FFF2-40B4-BE49-F238E27FC236}">
                <a16:creationId xmlns:a16="http://schemas.microsoft.com/office/drawing/2014/main" id="{0DB4B592-9668-B593-B60D-EA7A50346ECC}"/>
              </a:ext>
            </a:extLst>
          </p:cNvPr>
          <p:cNvSpPr>
            <a:spLocks noGrp="1"/>
          </p:cNvSpPr>
          <p:nvPr>
            <p:ph type="ftr" sz="quarter" idx="11"/>
          </p:nvPr>
        </p:nvSpPr>
        <p:spPr/>
        <p:txBody>
          <a:bodyPr/>
          <a:lstStyle/>
          <a:p>
            <a:r>
              <a:rPr lang="en-IN"/>
              <a:t>Title of the Project</a:t>
            </a:r>
          </a:p>
        </p:txBody>
      </p:sp>
      <p:sp>
        <p:nvSpPr>
          <p:cNvPr id="7" name="TextBox 6">
            <a:extLst>
              <a:ext uri="{FF2B5EF4-FFF2-40B4-BE49-F238E27FC236}">
                <a16:creationId xmlns:a16="http://schemas.microsoft.com/office/drawing/2014/main" id="{926861A5-AEAA-79E8-62E5-69B012331285}"/>
              </a:ext>
            </a:extLst>
          </p:cNvPr>
          <p:cNvSpPr txBox="1"/>
          <p:nvPr/>
        </p:nvSpPr>
        <p:spPr>
          <a:xfrm>
            <a:off x="426085" y="914142"/>
            <a:ext cx="8291830" cy="5224315"/>
          </a:xfrm>
          <a:prstGeom prst="rect">
            <a:avLst/>
          </a:prstGeom>
          <a:noFill/>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proposed system enhances land registration by integrating advanced AI and blockchain features for improved security, efficiency, and fraud prevention. AI models like XGB and LGBM, along with pre-trained models, significantly improve fraud detection accuracy. A real-time monitoring system detects fraudulent activities and alerts authorities for quick intervention. Dynamic smart contracts adapt to regulatory changes and enhance data validation. The system implements secure land document generation, ensuring tamper-proof digital records to prevent forgery and unauthorized alterations. Blockchain-based transaction validation mechanisms prevent transaction fraud, ensuring that only legitimate land transfers occur. AI-powered land fraud classification accurately detects fraudulent land records, reducing disputes and unauthorized claims. Sharding-based scalability enhancements optimize the system to handle large-scale data efficiently. Interoperability with external land registries improves verification accuracy and seamless integration. Decentralized identity management protects landowners' privacy and security while ensuring transparent ownership tracking. Advanced security tools like Slither strengthen smart contract protection against vulnerabilities and cyber threats. AI-driven sustainability analysis helps monitor land usage and promotes eco-friendly agricultural practices. An intuitive user interface ensures easy access to land records and improves usability for landowners and stakeholders. These enhancements create a robust, transparent, and fraud-resistant land registration system, ensuring trust, efficiency, and adaptability to future needs.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330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Software / Hardware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76E8B922-F211-8D88-DCF1-70B86E5B87CE}"/>
              </a:ext>
            </a:extLst>
          </p:cNvPr>
          <p:cNvSpPr>
            <a:spLocks noGrp="1"/>
          </p:cNvSpPr>
          <p:nvPr>
            <p:ph type="dt" sz="half" idx="10"/>
          </p:nvPr>
        </p:nvSpPr>
        <p:spPr/>
        <p:txBody>
          <a:bodyPr/>
          <a:lstStyle/>
          <a:p>
            <a:fld id="{FAF13B13-FE7B-44B3-A17C-0E207613EA14}" type="datetime1">
              <a:rPr lang="en-IN" smtClean="0"/>
              <a:t>03-04-2025</a:t>
            </a:fld>
            <a:endParaRPr lang="en-IN"/>
          </a:p>
        </p:txBody>
      </p:sp>
      <p:sp>
        <p:nvSpPr>
          <p:cNvPr id="4" name="Slide Number Placeholder 3">
            <a:extLst>
              <a:ext uri="{FF2B5EF4-FFF2-40B4-BE49-F238E27FC236}">
                <a16:creationId xmlns:a16="http://schemas.microsoft.com/office/drawing/2014/main" id="{2894247B-9CF2-A38D-3B41-D90F4E4CF4C0}"/>
              </a:ext>
            </a:extLst>
          </p:cNvPr>
          <p:cNvSpPr>
            <a:spLocks noGrp="1"/>
          </p:cNvSpPr>
          <p:nvPr>
            <p:ph type="sldNum" sz="quarter" idx="12"/>
          </p:nvPr>
        </p:nvSpPr>
        <p:spPr/>
        <p:txBody>
          <a:bodyPr/>
          <a:lstStyle/>
          <a:p>
            <a:fld id="{9D3FF152-60F5-4862-82F9-1190556AA56F}" type="slidenum">
              <a:rPr lang="en-IN" sz="1400" b="1" smtClean="0">
                <a:solidFill>
                  <a:schemeClr val="tx1"/>
                </a:solidFill>
              </a:rPr>
              <a:t>10</a:t>
            </a:fld>
            <a:endParaRPr lang="en-IN" sz="1400" b="1" dirty="0">
              <a:solidFill>
                <a:schemeClr val="tx1"/>
              </a:solidFill>
            </a:endParaRPr>
          </a:p>
        </p:txBody>
      </p:sp>
      <p:sp>
        <p:nvSpPr>
          <p:cNvPr id="5" name="Footer Placeholder 4">
            <a:extLst>
              <a:ext uri="{FF2B5EF4-FFF2-40B4-BE49-F238E27FC236}">
                <a16:creationId xmlns:a16="http://schemas.microsoft.com/office/drawing/2014/main" id="{4A3E7582-B1E8-EAD0-208E-A369B8300F04}"/>
              </a:ext>
            </a:extLst>
          </p:cNvPr>
          <p:cNvSpPr>
            <a:spLocks noGrp="1"/>
          </p:cNvSpPr>
          <p:nvPr>
            <p:ph type="ftr" sz="quarter" idx="11"/>
          </p:nvPr>
        </p:nvSpPr>
        <p:spPr/>
        <p:txBody>
          <a:bodyPr/>
          <a:lstStyle/>
          <a:p>
            <a:r>
              <a:rPr lang="en-IN"/>
              <a:t>Title of the Project</a:t>
            </a:r>
          </a:p>
        </p:txBody>
      </p:sp>
      <p:sp>
        <p:nvSpPr>
          <p:cNvPr id="6" name="TextBox 5">
            <a:extLst>
              <a:ext uri="{FF2B5EF4-FFF2-40B4-BE49-F238E27FC236}">
                <a16:creationId xmlns:a16="http://schemas.microsoft.com/office/drawing/2014/main" id="{82AF431B-5FA7-9639-C907-902DC67508E3}"/>
              </a:ext>
            </a:extLst>
          </p:cNvPr>
          <p:cNvSpPr txBox="1"/>
          <p:nvPr/>
        </p:nvSpPr>
        <p:spPr>
          <a:xfrm>
            <a:off x="396240" y="883920"/>
            <a:ext cx="3576320" cy="5178982"/>
          </a:xfrm>
          <a:prstGeom prst="rect">
            <a:avLst/>
          </a:prstGeom>
          <a:noFill/>
        </p:spPr>
        <p:txBody>
          <a:bodyPr wrap="square" rtlCol="0">
            <a:spAutoFit/>
          </a:bodyPr>
          <a:lstStyle/>
          <a:p>
            <a:pPr>
              <a:lnSpc>
                <a:spcPct val="150000"/>
              </a:lnSpc>
              <a:spcAft>
                <a:spcPts val="800"/>
              </a:spcAft>
              <a:buNone/>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Hard Disk	:  250GB and Above</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RAM		:  6GB and Above</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Processor	:  i3 and Above</a:t>
            </a:r>
            <a:endParaRPr lang="en-IN" sz="1400" dirty="0">
              <a:latin typeface="Times New Roman" panose="02020603050405020304" pitchFamily="18" charset="0"/>
              <a:ea typeface="Times New Roman" panose="02020603050405020304" pitchFamily="18" charset="0"/>
            </a:endParaRPr>
          </a:p>
          <a:p>
            <a:pPr marR="457200" lvl="0">
              <a:lnSpc>
                <a:spcPct val="150000"/>
              </a:lnSpc>
              <a:spcAft>
                <a:spcPts val="600"/>
              </a:spcAft>
              <a:tabLst>
                <a:tab pos="800100" algn="l"/>
              </a:tabLst>
            </a:pPr>
            <a:r>
              <a:rPr lang="en-US" sz="1400" b="1" dirty="0">
                <a:effectLst/>
                <a:latin typeface="Times New Roman" panose="02020603050405020304" pitchFamily="18" charset="0"/>
                <a:ea typeface="Times New Roman" panose="02020603050405020304" pitchFamily="18" charset="0"/>
              </a:rPr>
              <a:t>SOFTWARE REQUIREMENTS </a:t>
            </a:r>
            <a:endParaRPr lang="en-IN" sz="14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Windows 10 and Above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JDK 17</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Python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MySQL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Visual Studio Code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Node.js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Ganache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Wingdings" panose="05000000000000000000" pitchFamily="2" charset="2"/>
              <a:buChar char=""/>
              <a:tabLst>
                <a:tab pos="1402080" algn="l"/>
              </a:tabLs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IPFS (Inter Planetary File System)</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buNone/>
            </a:pPr>
            <a:endParaRPr lang="en-IN" sz="1800" dirty="0">
              <a:effectLst/>
              <a:latin typeface="Calibri" panose="020F0502020204030204" pitchFamily="34" charset="0"/>
              <a:ea typeface="Times New Roman" panose="02020603050405020304" pitchFamily="18" charset="0"/>
            </a:endParaRPr>
          </a:p>
        </p:txBody>
      </p:sp>
      <p:sp>
        <p:nvSpPr>
          <p:cNvPr id="7" name="TextBox 6">
            <a:extLst>
              <a:ext uri="{FF2B5EF4-FFF2-40B4-BE49-F238E27FC236}">
                <a16:creationId xmlns:a16="http://schemas.microsoft.com/office/drawing/2014/main" id="{8C8EF0E2-4398-B296-0811-F8AC8DCBEF8C}"/>
              </a:ext>
            </a:extLst>
          </p:cNvPr>
          <p:cNvSpPr txBox="1"/>
          <p:nvPr/>
        </p:nvSpPr>
        <p:spPr>
          <a:xfrm>
            <a:off x="5171442" y="883920"/>
            <a:ext cx="4866640" cy="3299686"/>
          </a:xfrm>
          <a:prstGeom prst="rect">
            <a:avLst/>
          </a:prstGeom>
          <a:noFill/>
        </p:spPr>
        <p:txBody>
          <a:bodyPr wrap="square" rtlCol="0">
            <a:spAutoFit/>
          </a:bodyPr>
          <a:lstStyle/>
          <a:p>
            <a:pPr algn="just">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TECHNOLOGIES USED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Spring Boot (Framework)</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Thymeleaf (Template-Engine)</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Machine Learning</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Node JS</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MySQL 8.0</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Solidity</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Wingdings" panose="05000000000000000000" pitchFamily="2" charset="2"/>
              <a:buChar char=""/>
              <a:tabLst>
                <a:tab pos="800100" algn="l"/>
              </a:tabLst>
            </a:pPr>
            <a:r>
              <a:rPr lang="en-US" sz="1400" dirty="0">
                <a:effectLst/>
                <a:latin typeface="Times New Roman" panose="02020603050405020304" pitchFamily="18" charset="0"/>
                <a:ea typeface="Times New Roman" panose="02020603050405020304" pitchFamily="18" charset="0"/>
              </a:rPr>
              <a:t>IPFS</a:t>
            </a:r>
            <a:endParaRPr lang="en-IN" sz="1400" dirty="0"/>
          </a:p>
        </p:txBody>
      </p:sp>
    </p:spTree>
    <p:extLst>
      <p:ext uri="{BB962C8B-B14F-4D97-AF65-F5344CB8AC3E}">
        <p14:creationId xmlns:p14="http://schemas.microsoft.com/office/powerpoint/2010/main" val="2070265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Architecture / Methodology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94A57625-FE0C-C9D0-9B64-51C30486E5E1}"/>
              </a:ext>
            </a:extLst>
          </p:cNvPr>
          <p:cNvSpPr>
            <a:spLocks noGrp="1"/>
          </p:cNvSpPr>
          <p:nvPr>
            <p:ph type="dt" sz="half" idx="10"/>
          </p:nvPr>
        </p:nvSpPr>
        <p:spPr/>
        <p:txBody>
          <a:bodyPr/>
          <a:lstStyle/>
          <a:p>
            <a:fld id="{C4BC039F-0198-485D-A7BF-5D1B9E0B2CD8}" type="datetime1">
              <a:rPr lang="en-IN" smtClean="0"/>
              <a:t>03-04-2025</a:t>
            </a:fld>
            <a:endParaRPr lang="en-IN"/>
          </a:p>
        </p:txBody>
      </p:sp>
      <p:sp>
        <p:nvSpPr>
          <p:cNvPr id="4" name="Slide Number Placeholder 3">
            <a:extLst>
              <a:ext uri="{FF2B5EF4-FFF2-40B4-BE49-F238E27FC236}">
                <a16:creationId xmlns:a16="http://schemas.microsoft.com/office/drawing/2014/main" id="{2C207A7E-3D82-3EF5-FA41-02841985E0D6}"/>
              </a:ext>
            </a:extLst>
          </p:cNvPr>
          <p:cNvSpPr>
            <a:spLocks noGrp="1"/>
          </p:cNvSpPr>
          <p:nvPr>
            <p:ph type="sldNum" sz="quarter" idx="12"/>
          </p:nvPr>
        </p:nvSpPr>
        <p:spPr/>
        <p:txBody>
          <a:bodyPr/>
          <a:lstStyle/>
          <a:p>
            <a:fld id="{9D3FF152-60F5-4862-82F9-1190556AA56F}" type="slidenum">
              <a:rPr lang="en-IN" sz="1400" b="1" smtClean="0">
                <a:solidFill>
                  <a:schemeClr val="tx1"/>
                </a:solidFill>
              </a:rPr>
              <a:t>11</a:t>
            </a:fld>
            <a:endParaRPr lang="en-IN" b="1" dirty="0">
              <a:solidFill>
                <a:schemeClr val="tx1"/>
              </a:solidFill>
            </a:endParaRPr>
          </a:p>
        </p:txBody>
      </p:sp>
      <p:sp>
        <p:nvSpPr>
          <p:cNvPr id="5" name="Footer Placeholder 4">
            <a:extLst>
              <a:ext uri="{FF2B5EF4-FFF2-40B4-BE49-F238E27FC236}">
                <a16:creationId xmlns:a16="http://schemas.microsoft.com/office/drawing/2014/main" id="{32B6A7EF-50D7-1BEB-23D3-C8D571DB476B}"/>
              </a:ext>
            </a:extLst>
          </p:cNvPr>
          <p:cNvSpPr>
            <a:spLocks noGrp="1"/>
          </p:cNvSpPr>
          <p:nvPr>
            <p:ph type="ftr" sz="quarter" idx="11"/>
          </p:nvPr>
        </p:nvSpPr>
        <p:spPr/>
        <p:txBody>
          <a:bodyPr/>
          <a:lstStyle/>
          <a:p>
            <a:r>
              <a:rPr lang="en-IN"/>
              <a:t>Title of the Project</a:t>
            </a:r>
          </a:p>
        </p:txBody>
      </p:sp>
      <p:pic>
        <p:nvPicPr>
          <p:cNvPr id="6" name="Picture 5">
            <a:extLst>
              <a:ext uri="{FF2B5EF4-FFF2-40B4-BE49-F238E27FC236}">
                <a16:creationId xmlns:a16="http://schemas.microsoft.com/office/drawing/2014/main" id="{AC0DD332-8210-FFE5-769D-7ECA989AC6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5542" y="925340"/>
            <a:ext cx="6812915" cy="5201920"/>
          </a:xfrm>
          <a:prstGeom prst="rect">
            <a:avLst/>
          </a:prstGeom>
          <a:noFill/>
          <a:ln>
            <a:noFill/>
          </a:ln>
        </p:spPr>
      </p:pic>
    </p:spTree>
    <p:extLst>
      <p:ext uri="{BB962C8B-B14F-4D97-AF65-F5344CB8AC3E}">
        <p14:creationId xmlns:p14="http://schemas.microsoft.com/office/powerpoint/2010/main" val="3264071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Flow Chart </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C882CF49-C6EE-11A2-A9CF-6435ECACEAA7}"/>
              </a:ext>
            </a:extLst>
          </p:cNvPr>
          <p:cNvSpPr>
            <a:spLocks noGrp="1"/>
          </p:cNvSpPr>
          <p:nvPr>
            <p:ph type="dt" sz="half" idx="10"/>
          </p:nvPr>
        </p:nvSpPr>
        <p:spPr/>
        <p:txBody>
          <a:bodyPr/>
          <a:lstStyle/>
          <a:p>
            <a:fld id="{E423047D-1ACD-4B81-ACD0-B5BF1E815C27}" type="datetime1">
              <a:rPr lang="en-IN" smtClean="0"/>
              <a:t>03-04-2025</a:t>
            </a:fld>
            <a:endParaRPr lang="en-IN"/>
          </a:p>
        </p:txBody>
      </p:sp>
      <p:sp>
        <p:nvSpPr>
          <p:cNvPr id="8" name="Slide Number Placeholder 7">
            <a:extLst>
              <a:ext uri="{FF2B5EF4-FFF2-40B4-BE49-F238E27FC236}">
                <a16:creationId xmlns:a16="http://schemas.microsoft.com/office/drawing/2014/main" id="{49F084E4-6470-6E54-01D5-51470D9D3D05}"/>
              </a:ext>
            </a:extLst>
          </p:cNvPr>
          <p:cNvSpPr>
            <a:spLocks noGrp="1"/>
          </p:cNvSpPr>
          <p:nvPr>
            <p:ph type="sldNum" sz="quarter" idx="12"/>
          </p:nvPr>
        </p:nvSpPr>
        <p:spPr/>
        <p:txBody>
          <a:bodyPr/>
          <a:lstStyle/>
          <a:p>
            <a:fld id="{9D3FF152-60F5-4862-82F9-1190556AA56F}" type="slidenum">
              <a:rPr lang="en-IN" sz="1400" b="1" smtClean="0">
                <a:solidFill>
                  <a:schemeClr val="tx1"/>
                </a:solidFill>
              </a:rPr>
              <a:t>12</a:t>
            </a:fld>
            <a:endParaRPr lang="en-IN" b="1" dirty="0">
              <a:solidFill>
                <a:schemeClr val="tx1"/>
              </a:solidFill>
            </a:endParaRPr>
          </a:p>
        </p:txBody>
      </p:sp>
      <p:sp>
        <p:nvSpPr>
          <p:cNvPr id="3" name="Footer Placeholder 2">
            <a:extLst>
              <a:ext uri="{FF2B5EF4-FFF2-40B4-BE49-F238E27FC236}">
                <a16:creationId xmlns:a16="http://schemas.microsoft.com/office/drawing/2014/main" id="{34C646A9-0D81-7699-9DA6-C34614EB0F05}"/>
              </a:ext>
            </a:extLst>
          </p:cNvPr>
          <p:cNvSpPr>
            <a:spLocks noGrp="1"/>
          </p:cNvSpPr>
          <p:nvPr>
            <p:ph type="ftr" sz="quarter" idx="11"/>
          </p:nvPr>
        </p:nvSpPr>
        <p:spPr/>
        <p:txBody>
          <a:bodyPr/>
          <a:lstStyle/>
          <a:p>
            <a:r>
              <a:rPr lang="en-IN"/>
              <a:t>Title of the Project</a:t>
            </a:r>
          </a:p>
        </p:txBody>
      </p:sp>
      <p:pic>
        <p:nvPicPr>
          <p:cNvPr id="5" name="Picture 4">
            <a:extLst>
              <a:ext uri="{FF2B5EF4-FFF2-40B4-BE49-F238E27FC236}">
                <a16:creationId xmlns:a16="http://schemas.microsoft.com/office/drawing/2014/main" id="{CA40E465-D4AD-CEDA-ACA8-CC7618080CC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3200" y="696249"/>
            <a:ext cx="5750560" cy="5995760"/>
          </a:xfrm>
          <a:prstGeom prst="rect">
            <a:avLst/>
          </a:prstGeom>
          <a:noFill/>
          <a:ln>
            <a:noFill/>
          </a:ln>
        </p:spPr>
      </p:pic>
    </p:spTree>
    <p:extLst>
      <p:ext uri="{BB962C8B-B14F-4D97-AF65-F5344CB8AC3E}">
        <p14:creationId xmlns:p14="http://schemas.microsoft.com/office/powerpoint/2010/main" val="1665330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DFD</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C882CF49-C6EE-11A2-A9CF-6435ECACEAA7}"/>
              </a:ext>
            </a:extLst>
          </p:cNvPr>
          <p:cNvSpPr>
            <a:spLocks noGrp="1"/>
          </p:cNvSpPr>
          <p:nvPr>
            <p:ph type="dt" sz="half" idx="10"/>
          </p:nvPr>
        </p:nvSpPr>
        <p:spPr/>
        <p:txBody>
          <a:bodyPr/>
          <a:lstStyle/>
          <a:p>
            <a:fld id="{A652B166-E552-49C8-82FD-C8E8EAC02627}" type="datetime1">
              <a:rPr lang="en-IN" smtClean="0"/>
              <a:t>03-04-2025</a:t>
            </a:fld>
            <a:endParaRPr lang="en-IN"/>
          </a:p>
        </p:txBody>
      </p:sp>
      <p:sp>
        <p:nvSpPr>
          <p:cNvPr id="8" name="Slide Number Placeholder 7">
            <a:extLst>
              <a:ext uri="{FF2B5EF4-FFF2-40B4-BE49-F238E27FC236}">
                <a16:creationId xmlns:a16="http://schemas.microsoft.com/office/drawing/2014/main" id="{49F084E4-6470-6E54-01D5-51470D9D3D05}"/>
              </a:ext>
            </a:extLst>
          </p:cNvPr>
          <p:cNvSpPr>
            <a:spLocks noGrp="1"/>
          </p:cNvSpPr>
          <p:nvPr>
            <p:ph type="sldNum" sz="quarter" idx="12"/>
          </p:nvPr>
        </p:nvSpPr>
        <p:spPr/>
        <p:txBody>
          <a:bodyPr/>
          <a:lstStyle/>
          <a:p>
            <a:fld id="{9D3FF152-60F5-4862-82F9-1190556AA56F}" type="slidenum">
              <a:rPr lang="en-IN" smtClean="0"/>
              <a:t>13</a:t>
            </a:fld>
            <a:endParaRPr lang="en-IN"/>
          </a:p>
        </p:txBody>
      </p:sp>
      <p:sp>
        <p:nvSpPr>
          <p:cNvPr id="3" name="Footer Placeholder 2">
            <a:extLst>
              <a:ext uri="{FF2B5EF4-FFF2-40B4-BE49-F238E27FC236}">
                <a16:creationId xmlns:a16="http://schemas.microsoft.com/office/drawing/2014/main" id="{AE14B8CA-2C58-27BC-169F-30833F34682F}"/>
              </a:ext>
            </a:extLst>
          </p:cNvPr>
          <p:cNvSpPr>
            <a:spLocks noGrp="1"/>
          </p:cNvSpPr>
          <p:nvPr>
            <p:ph type="ftr" sz="quarter" idx="11"/>
          </p:nvPr>
        </p:nvSpPr>
        <p:spPr/>
        <p:txBody>
          <a:bodyPr/>
          <a:lstStyle/>
          <a:p>
            <a:r>
              <a:rPr lang="en-IN"/>
              <a:t>Title of the Project</a:t>
            </a:r>
          </a:p>
        </p:txBody>
      </p:sp>
      <p:sp>
        <p:nvSpPr>
          <p:cNvPr id="10" name="Rectangle 3">
            <a:extLst>
              <a:ext uri="{FF2B5EF4-FFF2-40B4-BE49-F238E27FC236}">
                <a16:creationId xmlns:a16="http://schemas.microsoft.com/office/drawing/2014/main" id="{5CB34F9E-6456-969F-4639-2EB10B387E7D}"/>
              </a:ext>
            </a:extLst>
          </p:cNvPr>
          <p:cNvSpPr>
            <a:spLocks noChangeArrowheads="1"/>
          </p:cNvSpPr>
          <p:nvPr/>
        </p:nvSpPr>
        <p:spPr bwMode="auto">
          <a:xfrm>
            <a:off x="1310640" y="412194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55" name="Picture 7" descr="https://documents.lucid.app/documents/3633a1cf-9538-437f-8dc0-05db8dc9b8f7/pages/0_0?a=342&amp;x=230&amp;y=-244&amp;w=1069&amp;h=84&amp;store=1&amp;accept=image%2F*&amp;auth=LCA%200b695a030e9e173a918f7f07277f753b8ba5ac2733a76fbe044ffd251e566d30-ts%3D1732097248">
            <a:extLst>
              <a:ext uri="{FF2B5EF4-FFF2-40B4-BE49-F238E27FC236}">
                <a16:creationId xmlns:a16="http://schemas.microsoft.com/office/drawing/2014/main" id="{ECF3F50E-1474-9015-5706-2E419045C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005" y="1353504"/>
            <a:ext cx="5943600" cy="7143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9" descr="https://documents.lucid.app/documents/3633a1cf-9538-437f-8dc0-05db8dc9b8f7/pages/0_0?a=442&amp;x=217&amp;y=-65&amp;w=1366&amp;h=84&amp;store=1&amp;accept=image%2F*&amp;auth=LCA%20038aa67e90e0e8f754283382d825d042f8f8ec023c181641ef2c28794ac682fd-ts%3D1732097248">
            <a:extLst>
              <a:ext uri="{FF2B5EF4-FFF2-40B4-BE49-F238E27FC236}">
                <a16:creationId xmlns:a16="http://schemas.microsoft.com/office/drawing/2014/main" id="{582943F5-9DD5-1447-D8A8-22DC36BB3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005" y="3286028"/>
            <a:ext cx="5943600" cy="720725"/>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138" descr="https://documents.lucid.app/documents/3633a1cf-9538-437f-8dc0-05db8dc9b8f7/pages/0_0?a=488&amp;x=217&amp;y=115&amp;w=1366&amp;h=84&amp;store=1&amp;accept=image%2F*&amp;auth=LCA%20348b20f496f116767df218cdd9d61b5fcc0cb49ffc807db9797c5ff62b123465-ts%3D1732097248">
            <a:extLst>
              <a:ext uri="{FF2B5EF4-FFF2-40B4-BE49-F238E27FC236}">
                <a16:creationId xmlns:a16="http://schemas.microsoft.com/office/drawing/2014/main" id="{4C6F7D60-AD1E-AB1B-FA4C-AB7572EEF3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005" y="4880594"/>
            <a:ext cx="5943600" cy="66675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9">
            <a:extLst>
              <a:ext uri="{FF2B5EF4-FFF2-40B4-BE49-F238E27FC236}">
                <a16:creationId xmlns:a16="http://schemas.microsoft.com/office/drawing/2014/main" id="{2CD5D18F-0E91-AC55-182E-F7D0B3E32C52}"/>
              </a:ext>
            </a:extLst>
          </p:cNvPr>
          <p:cNvSpPr>
            <a:spLocks noChangeArrowheads="1"/>
          </p:cNvSpPr>
          <p:nvPr/>
        </p:nvSpPr>
        <p:spPr bwMode="auto">
          <a:xfrm>
            <a:off x="802640" y="2226314"/>
            <a:ext cx="110799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0">
            <a:extLst>
              <a:ext uri="{FF2B5EF4-FFF2-40B4-BE49-F238E27FC236}">
                <a16:creationId xmlns:a16="http://schemas.microsoft.com/office/drawing/2014/main" id="{0E58A32F-D4FF-8A0F-5967-D18771E027F1}"/>
              </a:ext>
            </a:extLst>
          </p:cNvPr>
          <p:cNvSpPr>
            <a:spLocks noChangeArrowheads="1"/>
          </p:cNvSpPr>
          <p:nvPr/>
        </p:nvSpPr>
        <p:spPr bwMode="auto">
          <a:xfrm>
            <a:off x="802640" y="212628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12">
            <a:extLst>
              <a:ext uri="{FF2B5EF4-FFF2-40B4-BE49-F238E27FC236}">
                <a16:creationId xmlns:a16="http://schemas.microsoft.com/office/drawing/2014/main" id="{92454A03-D1D9-79FD-FD5E-A6FE9A86558F}"/>
              </a:ext>
            </a:extLst>
          </p:cNvPr>
          <p:cNvSpPr>
            <a:spLocks noChangeArrowheads="1"/>
          </p:cNvSpPr>
          <p:nvPr/>
        </p:nvSpPr>
        <p:spPr bwMode="auto">
          <a:xfrm>
            <a:off x="802640" y="698309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7" name="TextBox 16">
            <a:extLst>
              <a:ext uri="{FF2B5EF4-FFF2-40B4-BE49-F238E27FC236}">
                <a16:creationId xmlns:a16="http://schemas.microsoft.com/office/drawing/2014/main" id="{BECF7B4C-6447-D03C-8796-0A0A90AD4C32}"/>
              </a:ext>
            </a:extLst>
          </p:cNvPr>
          <p:cNvSpPr txBox="1"/>
          <p:nvPr/>
        </p:nvSpPr>
        <p:spPr>
          <a:xfrm>
            <a:off x="1141730" y="1079266"/>
            <a:ext cx="4973320" cy="315856"/>
          </a:xfrm>
          <a:prstGeom prst="rect">
            <a:avLst/>
          </a:prstGeom>
          <a:noFill/>
        </p:spPr>
        <p:txBody>
          <a:bodyPr wrap="square">
            <a:spAutoFit/>
          </a:bodyPr>
          <a:lstStyle/>
          <a:p>
            <a:pPr algn="just">
              <a:lnSpc>
                <a:spcPct val="150000"/>
              </a:lnSpc>
              <a:spcAft>
                <a:spcPts val="800"/>
              </a:spcAft>
            </a:pPr>
            <a:r>
              <a:rPr lang="en-IN" sz="1100" kern="100" dirty="0">
                <a:effectLst/>
                <a:latin typeface="Times New Roman" panose="02020603050405020304" pitchFamily="18" charset="0"/>
                <a:ea typeface="Calibri" panose="020F0502020204030204" pitchFamily="34" charset="0"/>
                <a:cs typeface="Times New Roman" panose="02020603050405020304" pitchFamily="18" charset="0"/>
              </a:rPr>
              <a:t>Level 0:</a:t>
            </a:r>
          </a:p>
        </p:txBody>
      </p:sp>
      <p:sp>
        <p:nvSpPr>
          <p:cNvPr id="19" name="TextBox 18">
            <a:extLst>
              <a:ext uri="{FF2B5EF4-FFF2-40B4-BE49-F238E27FC236}">
                <a16:creationId xmlns:a16="http://schemas.microsoft.com/office/drawing/2014/main" id="{BFAE72BA-DB80-EC2B-1C08-0552956FFD56}"/>
              </a:ext>
            </a:extLst>
          </p:cNvPr>
          <p:cNvSpPr txBox="1"/>
          <p:nvPr/>
        </p:nvSpPr>
        <p:spPr>
          <a:xfrm>
            <a:off x="1141730" y="2703202"/>
            <a:ext cx="4973320" cy="265457"/>
          </a:xfrm>
          <a:prstGeom prst="rect">
            <a:avLst/>
          </a:prstGeom>
          <a:noFill/>
        </p:spPr>
        <p:txBody>
          <a:bodyPr wrap="square">
            <a:spAutoFit/>
          </a:bodyPr>
          <a:lstStyle/>
          <a:p>
            <a:pPr>
              <a:lnSpc>
                <a:spcPct val="107000"/>
              </a:lnSpc>
              <a:spcAft>
                <a:spcPts val="800"/>
              </a:spcAft>
            </a:pPr>
            <a:r>
              <a:rPr lang="en-IN" sz="1100" kern="100" dirty="0">
                <a:effectLst/>
                <a:latin typeface="Times New Roman" panose="02020603050405020304" pitchFamily="18" charset="0"/>
                <a:ea typeface="Calibri" panose="020F0502020204030204" pitchFamily="34" charset="0"/>
                <a:cs typeface="Times New Roman" panose="02020603050405020304" pitchFamily="18" charset="0"/>
              </a:rPr>
              <a:t>Level 1:</a:t>
            </a:r>
          </a:p>
        </p:txBody>
      </p:sp>
      <p:sp>
        <p:nvSpPr>
          <p:cNvPr id="21" name="TextBox 20">
            <a:extLst>
              <a:ext uri="{FF2B5EF4-FFF2-40B4-BE49-F238E27FC236}">
                <a16:creationId xmlns:a16="http://schemas.microsoft.com/office/drawing/2014/main" id="{281674EF-C2B1-B40E-A0E6-5BD775130B84}"/>
              </a:ext>
            </a:extLst>
          </p:cNvPr>
          <p:cNvSpPr txBox="1"/>
          <p:nvPr/>
        </p:nvSpPr>
        <p:spPr>
          <a:xfrm>
            <a:off x="1141730" y="4517053"/>
            <a:ext cx="4973320" cy="261290"/>
          </a:xfrm>
          <a:prstGeom prst="rect">
            <a:avLst/>
          </a:prstGeom>
          <a:noFill/>
        </p:spPr>
        <p:txBody>
          <a:bodyPr wrap="square">
            <a:spAutoFit/>
          </a:bodyPr>
          <a:lstStyle/>
          <a:p>
            <a:pPr>
              <a:lnSpc>
                <a:spcPct val="107000"/>
              </a:lnSpc>
              <a:spcAft>
                <a:spcPts val="800"/>
              </a:spcAft>
            </a:pPr>
            <a:r>
              <a:rPr lang="en-IN" sz="1100" kern="100" dirty="0">
                <a:effectLst/>
                <a:latin typeface="Times New Roman" panose="02020603050405020304" pitchFamily="18" charset="0"/>
                <a:ea typeface="Calibri" panose="020F0502020204030204" pitchFamily="34" charset="0"/>
                <a:cs typeface="Times New Roman" panose="02020603050405020304" pitchFamily="18" charset="0"/>
              </a:rPr>
              <a:t>Level 2:</a:t>
            </a:r>
          </a:p>
        </p:txBody>
      </p:sp>
    </p:spTree>
    <p:extLst>
      <p:ext uri="{BB962C8B-B14F-4D97-AF65-F5344CB8AC3E}">
        <p14:creationId xmlns:p14="http://schemas.microsoft.com/office/powerpoint/2010/main" val="362709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8EAA6-7323-9478-B954-A04160F5C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02402-E98A-24E5-C014-9BE7A0BAA857}"/>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DFD </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9C914EFB-E8C1-B98C-116D-C72CB7182FED}"/>
              </a:ext>
            </a:extLst>
          </p:cNvPr>
          <p:cNvSpPr>
            <a:spLocks noGrp="1"/>
          </p:cNvSpPr>
          <p:nvPr>
            <p:ph type="dt" sz="half" idx="10"/>
          </p:nvPr>
        </p:nvSpPr>
        <p:spPr/>
        <p:txBody>
          <a:bodyPr/>
          <a:lstStyle/>
          <a:p>
            <a:fld id="{93C8E2EA-5B1E-4C4B-8119-2064F1198F72}" type="datetime1">
              <a:rPr lang="en-IN" smtClean="0"/>
              <a:t>03-04-2025</a:t>
            </a:fld>
            <a:endParaRPr lang="en-IN"/>
          </a:p>
        </p:txBody>
      </p:sp>
      <p:sp>
        <p:nvSpPr>
          <p:cNvPr id="8" name="Slide Number Placeholder 7">
            <a:extLst>
              <a:ext uri="{FF2B5EF4-FFF2-40B4-BE49-F238E27FC236}">
                <a16:creationId xmlns:a16="http://schemas.microsoft.com/office/drawing/2014/main" id="{D47092FB-CF37-3B8E-00EB-3048786413CF}"/>
              </a:ext>
            </a:extLst>
          </p:cNvPr>
          <p:cNvSpPr>
            <a:spLocks noGrp="1"/>
          </p:cNvSpPr>
          <p:nvPr>
            <p:ph type="sldNum" sz="quarter" idx="12"/>
          </p:nvPr>
        </p:nvSpPr>
        <p:spPr/>
        <p:txBody>
          <a:bodyPr/>
          <a:lstStyle/>
          <a:p>
            <a:fld id="{9D3FF152-60F5-4862-82F9-1190556AA56F}" type="slidenum">
              <a:rPr lang="en-IN" smtClean="0"/>
              <a:t>14</a:t>
            </a:fld>
            <a:endParaRPr lang="en-IN"/>
          </a:p>
        </p:txBody>
      </p:sp>
      <p:sp>
        <p:nvSpPr>
          <p:cNvPr id="3" name="Footer Placeholder 2">
            <a:extLst>
              <a:ext uri="{FF2B5EF4-FFF2-40B4-BE49-F238E27FC236}">
                <a16:creationId xmlns:a16="http://schemas.microsoft.com/office/drawing/2014/main" id="{20B5977A-999A-377F-6F96-9D9CC78B6DB3}"/>
              </a:ext>
            </a:extLst>
          </p:cNvPr>
          <p:cNvSpPr>
            <a:spLocks noGrp="1"/>
          </p:cNvSpPr>
          <p:nvPr>
            <p:ph type="ftr" sz="quarter" idx="11"/>
          </p:nvPr>
        </p:nvSpPr>
        <p:spPr/>
        <p:txBody>
          <a:bodyPr/>
          <a:lstStyle/>
          <a:p>
            <a:r>
              <a:rPr lang="en-IN"/>
              <a:t>Title of the Project</a:t>
            </a:r>
          </a:p>
        </p:txBody>
      </p:sp>
      <p:pic>
        <p:nvPicPr>
          <p:cNvPr id="2052" name="Picture 11" descr="https://documents.lucid.app/documents/3633a1cf-9538-437f-8dc0-05db8dc9b8f7/pages/0_0?a=655&amp;x=203&amp;y=-273&amp;w=1675&amp;h=737&amp;store=1&amp;accept=image%2F*&amp;auth=LCA%2075ba0aa7adbd5ab2c168f4e778fb20b9b172345605aa9f5d4a35fe4f0b0ea1c7-ts%3D1732097248">
            <a:extLst>
              <a:ext uri="{FF2B5EF4-FFF2-40B4-BE49-F238E27FC236}">
                <a16:creationId xmlns:a16="http://schemas.microsoft.com/office/drawing/2014/main" id="{D7996BA7-543D-E59F-EC44-66C7BBEA7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830" y="1622863"/>
            <a:ext cx="7324090" cy="429885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F961D01-18B6-FEF4-AF5A-5C3FA97182DA}"/>
              </a:ext>
            </a:extLst>
          </p:cNvPr>
          <p:cNvSpPr txBox="1"/>
          <p:nvPr/>
        </p:nvSpPr>
        <p:spPr>
          <a:xfrm>
            <a:off x="1178560" y="1435087"/>
            <a:ext cx="4572000" cy="261290"/>
          </a:xfrm>
          <a:prstGeom prst="rect">
            <a:avLst/>
          </a:prstGeom>
          <a:noFill/>
        </p:spPr>
        <p:txBody>
          <a:bodyPr wrap="square">
            <a:spAutoFit/>
          </a:bodyPr>
          <a:lstStyle/>
          <a:p>
            <a:pPr>
              <a:lnSpc>
                <a:spcPct val="107000"/>
              </a:lnSpc>
              <a:spcAft>
                <a:spcPts val="800"/>
              </a:spcAft>
            </a:pPr>
            <a:r>
              <a:rPr lang="en-IN" sz="1100" kern="100" dirty="0">
                <a:effectLst/>
                <a:latin typeface="Times New Roman" panose="02020603050405020304" pitchFamily="18" charset="0"/>
                <a:ea typeface="Calibri" panose="020F0502020204030204" pitchFamily="34" charset="0"/>
                <a:cs typeface="Times New Roman" panose="02020603050405020304" pitchFamily="18" charset="0"/>
              </a:rPr>
              <a:t>Level 3:</a:t>
            </a:r>
          </a:p>
        </p:txBody>
      </p:sp>
    </p:spTree>
    <p:extLst>
      <p:ext uri="{BB962C8B-B14F-4D97-AF65-F5344CB8AC3E}">
        <p14:creationId xmlns:p14="http://schemas.microsoft.com/office/powerpoint/2010/main" val="1073122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ER </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C882CF49-C6EE-11A2-A9CF-6435ECACEAA7}"/>
              </a:ext>
            </a:extLst>
          </p:cNvPr>
          <p:cNvSpPr>
            <a:spLocks noGrp="1"/>
          </p:cNvSpPr>
          <p:nvPr>
            <p:ph type="dt" sz="half" idx="10"/>
          </p:nvPr>
        </p:nvSpPr>
        <p:spPr/>
        <p:txBody>
          <a:bodyPr/>
          <a:lstStyle/>
          <a:p>
            <a:fld id="{AE04E01F-CA7A-462E-A07C-89F26DCA0092}" type="datetime1">
              <a:rPr lang="en-IN" smtClean="0"/>
              <a:t>03-04-2025</a:t>
            </a:fld>
            <a:endParaRPr lang="en-IN"/>
          </a:p>
        </p:txBody>
      </p:sp>
      <p:sp>
        <p:nvSpPr>
          <p:cNvPr id="8" name="Slide Number Placeholder 7">
            <a:extLst>
              <a:ext uri="{FF2B5EF4-FFF2-40B4-BE49-F238E27FC236}">
                <a16:creationId xmlns:a16="http://schemas.microsoft.com/office/drawing/2014/main" id="{49F084E4-6470-6E54-01D5-51470D9D3D05}"/>
              </a:ext>
            </a:extLst>
          </p:cNvPr>
          <p:cNvSpPr>
            <a:spLocks noGrp="1"/>
          </p:cNvSpPr>
          <p:nvPr>
            <p:ph type="sldNum" sz="quarter" idx="12"/>
          </p:nvPr>
        </p:nvSpPr>
        <p:spPr/>
        <p:txBody>
          <a:bodyPr/>
          <a:lstStyle/>
          <a:p>
            <a:fld id="{9D3FF152-60F5-4862-82F9-1190556AA56F}" type="slidenum">
              <a:rPr lang="en-IN" smtClean="0"/>
              <a:t>15</a:t>
            </a:fld>
            <a:endParaRPr lang="en-IN"/>
          </a:p>
        </p:txBody>
      </p:sp>
      <p:sp>
        <p:nvSpPr>
          <p:cNvPr id="3" name="Footer Placeholder 2">
            <a:extLst>
              <a:ext uri="{FF2B5EF4-FFF2-40B4-BE49-F238E27FC236}">
                <a16:creationId xmlns:a16="http://schemas.microsoft.com/office/drawing/2014/main" id="{AC48C95D-0F77-D4F0-B055-532F01D13379}"/>
              </a:ext>
            </a:extLst>
          </p:cNvPr>
          <p:cNvSpPr>
            <a:spLocks noGrp="1"/>
          </p:cNvSpPr>
          <p:nvPr>
            <p:ph type="ftr" sz="quarter" idx="11"/>
          </p:nvPr>
        </p:nvSpPr>
        <p:spPr/>
        <p:txBody>
          <a:bodyPr/>
          <a:lstStyle/>
          <a:p>
            <a:r>
              <a:rPr lang="en-IN"/>
              <a:t>Title of the Project</a:t>
            </a:r>
          </a:p>
        </p:txBody>
      </p:sp>
      <p:pic>
        <p:nvPicPr>
          <p:cNvPr id="9" name="Picture 8">
            <a:extLst>
              <a:ext uri="{FF2B5EF4-FFF2-40B4-BE49-F238E27FC236}">
                <a16:creationId xmlns:a16="http://schemas.microsoft.com/office/drawing/2014/main" id="{C1A9E12B-7746-C611-73CA-FE360EC71E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3353"/>
            <a:ext cx="9144000" cy="5143500"/>
          </a:xfrm>
          <a:prstGeom prst="rect">
            <a:avLst/>
          </a:prstGeom>
        </p:spPr>
      </p:pic>
    </p:spTree>
    <p:extLst>
      <p:ext uri="{BB962C8B-B14F-4D97-AF65-F5344CB8AC3E}">
        <p14:creationId xmlns:p14="http://schemas.microsoft.com/office/powerpoint/2010/main" val="972360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5F168-E42C-5130-BEBD-824A7C3AD8FB}"/>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9C66976F-8101-1FF1-D2EA-931ED2190D03}"/>
              </a:ext>
            </a:extLst>
          </p:cNvPr>
          <p:cNvSpPr>
            <a:spLocks noGrp="1"/>
          </p:cNvSpPr>
          <p:nvPr>
            <p:ph type="ftr" sz="quarter" idx="11"/>
          </p:nvPr>
        </p:nvSpPr>
        <p:spPr/>
        <p:txBody>
          <a:bodyPr/>
          <a:lstStyle/>
          <a:p>
            <a:r>
              <a:rPr lang="en-IN"/>
              <a:t>Title of the Project</a:t>
            </a:r>
          </a:p>
        </p:txBody>
      </p:sp>
      <p:sp>
        <p:nvSpPr>
          <p:cNvPr id="4" name="Slide Number Placeholder 3">
            <a:extLst>
              <a:ext uri="{FF2B5EF4-FFF2-40B4-BE49-F238E27FC236}">
                <a16:creationId xmlns:a16="http://schemas.microsoft.com/office/drawing/2014/main" id="{63A42FB8-0A6A-D0DB-5773-6F6FC36A5456}"/>
              </a:ext>
            </a:extLst>
          </p:cNvPr>
          <p:cNvSpPr>
            <a:spLocks noGrp="1"/>
          </p:cNvSpPr>
          <p:nvPr>
            <p:ph type="sldNum" sz="quarter" idx="12"/>
          </p:nvPr>
        </p:nvSpPr>
        <p:spPr/>
        <p:txBody>
          <a:bodyPr/>
          <a:lstStyle/>
          <a:p>
            <a:fld id="{9D3FF152-60F5-4862-82F9-1190556AA56F}" type="slidenum">
              <a:rPr lang="en-IN" smtClean="0"/>
              <a:t>16</a:t>
            </a:fld>
            <a:endParaRPr lang="en-IN"/>
          </a:p>
        </p:txBody>
      </p:sp>
      <p:sp>
        <p:nvSpPr>
          <p:cNvPr id="12" name="TextBox 11">
            <a:extLst>
              <a:ext uri="{FF2B5EF4-FFF2-40B4-BE49-F238E27FC236}">
                <a16:creationId xmlns:a16="http://schemas.microsoft.com/office/drawing/2014/main" id="{C26C7127-7FE2-3C54-8B0D-9DBD44D057DA}"/>
              </a:ext>
            </a:extLst>
          </p:cNvPr>
          <p:cNvSpPr txBox="1"/>
          <p:nvPr/>
        </p:nvSpPr>
        <p:spPr>
          <a:xfrm>
            <a:off x="1259840" y="0"/>
            <a:ext cx="7508240" cy="646331"/>
          </a:xfrm>
          <a:prstGeom prst="rect">
            <a:avLst/>
          </a:prstGeom>
          <a:noFill/>
        </p:spPr>
        <p:txBody>
          <a:bodyPr wrap="square">
            <a:spAutoFit/>
          </a:bodyPr>
          <a:lstStyle/>
          <a:p>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Use case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Diagram</a:t>
            </a:r>
            <a:endParaRPr lang="en-IN" sz="3600" b="1" dirty="0">
              <a:solidFill>
                <a:srgbClr val="7030A0"/>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0B8FBA66-D3D4-F25B-D6FB-9B48E0168CC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342" y="703263"/>
            <a:ext cx="8235315" cy="5451475"/>
          </a:xfrm>
          <a:prstGeom prst="rect">
            <a:avLst/>
          </a:prstGeom>
          <a:noFill/>
          <a:ln>
            <a:noFill/>
          </a:ln>
        </p:spPr>
      </p:pic>
    </p:spTree>
    <p:extLst>
      <p:ext uri="{BB962C8B-B14F-4D97-AF65-F5344CB8AC3E}">
        <p14:creationId xmlns:p14="http://schemas.microsoft.com/office/powerpoint/2010/main" val="3122179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6CCE7F-1EF2-288A-C852-62A477561FE7}"/>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7795ED86-BF22-D59C-6771-8B93940D2336}"/>
              </a:ext>
            </a:extLst>
          </p:cNvPr>
          <p:cNvSpPr>
            <a:spLocks noGrp="1"/>
          </p:cNvSpPr>
          <p:nvPr>
            <p:ph type="ftr" sz="quarter" idx="11"/>
          </p:nvPr>
        </p:nvSpPr>
        <p:spPr/>
        <p:txBody>
          <a:bodyPr/>
          <a:lstStyle/>
          <a:p>
            <a:r>
              <a:rPr lang="en-IN"/>
              <a:t>Title of the Project</a:t>
            </a:r>
          </a:p>
        </p:txBody>
      </p:sp>
      <p:sp>
        <p:nvSpPr>
          <p:cNvPr id="4" name="Slide Number Placeholder 3">
            <a:extLst>
              <a:ext uri="{FF2B5EF4-FFF2-40B4-BE49-F238E27FC236}">
                <a16:creationId xmlns:a16="http://schemas.microsoft.com/office/drawing/2014/main" id="{F8AEDDA4-E3AE-2C10-2A3B-B5C0706DBEA6}"/>
              </a:ext>
            </a:extLst>
          </p:cNvPr>
          <p:cNvSpPr>
            <a:spLocks noGrp="1"/>
          </p:cNvSpPr>
          <p:nvPr>
            <p:ph type="sldNum" sz="quarter" idx="12"/>
          </p:nvPr>
        </p:nvSpPr>
        <p:spPr/>
        <p:txBody>
          <a:bodyPr/>
          <a:lstStyle/>
          <a:p>
            <a:fld id="{9D3FF152-60F5-4862-82F9-1190556AA56F}" type="slidenum">
              <a:rPr lang="en-IN" smtClean="0"/>
              <a:t>17</a:t>
            </a:fld>
            <a:endParaRPr lang="en-IN"/>
          </a:p>
        </p:txBody>
      </p:sp>
      <p:sp>
        <p:nvSpPr>
          <p:cNvPr id="5" name="Date Placeholder 1">
            <a:extLst>
              <a:ext uri="{FF2B5EF4-FFF2-40B4-BE49-F238E27FC236}">
                <a16:creationId xmlns:a16="http://schemas.microsoft.com/office/drawing/2014/main" id="{D82341CA-0BE2-FEBE-89B0-9CC8B5D5D6E0}"/>
              </a:ext>
            </a:extLst>
          </p:cNvPr>
          <p:cNvSpPr txBox="1">
            <a:spLocks/>
          </p:cNvSpPr>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9E1635-4293-4BDB-9808-27ED47FEDDC8}" type="datetime1">
              <a:rPr lang="en-IN" smtClean="0"/>
              <a:pPr/>
              <a:t>03-04-2025</a:t>
            </a:fld>
            <a:endParaRPr lang="en-IN"/>
          </a:p>
        </p:txBody>
      </p:sp>
      <p:sp>
        <p:nvSpPr>
          <p:cNvPr id="6" name="Footer Placeholder 2">
            <a:extLst>
              <a:ext uri="{FF2B5EF4-FFF2-40B4-BE49-F238E27FC236}">
                <a16:creationId xmlns:a16="http://schemas.microsoft.com/office/drawing/2014/main" id="{562E0A3F-1EF5-8705-E2BF-49D26B294BB8}"/>
              </a:ext>
            </a:extLst>
          </p:cNvPr>
          <p:cNvSpPr txBox="1">
            <a:spLocks/>
          </p:cNvSpPr>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Title of the Project</a:t>
            </a:r>
          </a:p>
        </p:txBody>
      </p:sp>
      <p:sp>
        <p:nvSpPr>
          <p:cNvPr id="7" name="Slide Number Placeholder 3">
            <a:extLst>
              <a:ext uri="{FF2B5EF4-FFF2-40B4-BE49-F238E27FC236}">
                <a16:creationId xmlns:a16="http://schemas.microsoft.com/office/drawing/2014/main" id="{97245DDD-D006-92E0-19DF-F56CEDC18B1D}"/>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D3FF152-60F5-4862-82F9-1190556AA56F}" type="slidenum">
              <a:rPr lang="en-IN" smtClean="0"/>
              <a:pPr/>
              <a:t>17</a:t>
            </a:fld>
            <a:endParaRPr lang="en-IN"/>
          </a:p>
        </p:txBody>
      </p:sp>
      <p:pic>
        <p:nvPicPr>
          <p:cNvPr id="10" name="Picture 9">
            <a:extLst>
              <a:ext uri="{FF2B5EF4-FFF2-40B4-BE49-F238E27FC236}">
                <a16:creationId xmlns:a16="http://schemas.microsoft.com/office/drawing/2014/main" id="{EAFCA7CD-1568-F709-BA24-F55126615C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400" y="803275"/>
            <a:ext cx="8517255" cy="5251450"/>
          </a:xfrm>
          <a:prstGeom prst="rect">
            <a:avLst/>
          </a:prstGeom>
          <a:noFill/>
          <a:ln>
            <a:noFill/>
          </a:ln>
        </p:spPr>
      </p:pic>
      <p:sp>
        <p:nvSpPr>
          <p:cNvPr id="14" name="TextBox 13">
            <a:extLst>
              <a:ext uri="{FF2B5EF4-FFF2-40B4-BE49-F238E27FC236}">
                <a16:creationId xmlns:a16="http://schemas.microsoft.com/office/drawing/2014/main" id="{E9EA0393-860C-A417-AA6E-0247EBE228F3}"/>
              </a:ext>
            </a:extLst>
          </p:cNvPr>
          <p:cNvSpPr txBox="1"/>
          <p:nvPr/>
        </p:nvSpPr>
        <p:spPr>
          <a:xfrm>
            <a:off x="2286000" y="3244334"/>
            <a:ext cx="4572000" cy="369332"/>
          </a:xfrm>
          <a:prstGeom prst="rect">
            <a:avLst/>
          </a:prstGeom>
          <a:noFill/>
        </p:spPr>
        <p:txBody>
          <a:bodyPr wrap="square">
            <a:spAutoFit/>
          </a:bodyPr>
          <a:lstStyle/>
          <a:p>
            <a:endParaRPr lang="en-IN" dirty="0"/>
          </a:p>
        </p:txBody>
      </p:sp>
      <p:sp>
        <p:nvSpPr>
          <p:cNvPr id="15" name="TextBox 14">
            <a:extLst>
              <a:ext uri="{FF2B5EF4-FFF2-40B4-BE49-F238E27FC236}">
                <a16:creationId xmlns:a16="http://schemas.microsoft.com/office/drawing/2014/main" id="{1A9CA5F8-CEF7-A4CB-87B8-5281272E0223}"/>
              </a:ext>
            </a:extLst>
          </p:cNvPr>
          <p:cNvSpPr txBox="1"/>
          <p:nvPr/>
        </p:nvSpPr>
        <p:spPr>
          <a:xfrm>
            <a:off x="406400" y="10160"/>
            <a:ext cx="8517255" cy="1200329"/>
          </a:xfrm>
          <a:prstGeom prst="rect">
            <a:avLst/>
          </a:prstGeom>
          <a:noFill/>
        </p:spPr>
        <p:txBody>
          <a:bodyPr wrap="square">
            <a:spAutoFit/>
          </a:bodyPr>
          <a:lstStyle/>
          <a:p>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Collaboration Diagram</a:t>
            </a:r>
            <a:endParaRPr lang="en-IN" sz="3600" b="1" dirty="0">
              <a:solidFill>
                <a:srgbClr val="7030A0"/>
              </a:solidFill>
              <a:latin typeface="Times New Roman" panose="02020603050405020304" pitchFamily="18" charset="0"/>
              <a:cs typeface="Times New Roman" panose="02020603050405020304" pitchFamily="18" charset="0"/>
            </a:endParaRPr>
          </a:p>
          <a:p>
            <a:endParaRPr lang="en-IN" sz="3600"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3528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FD5E6F-372F-AC36-D4FA-415964C24436}"/>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19BACDFE-0C40-9092-A52F-5555B1F70F49}"/>
              </a:ext>
            </a:extLst>
          </p:cNvPr>
          <p:cNvSpPr>
            <a:spLocks noGrp="1"/>
          </p:cNvSpPr>
          <p:nvPr>
            <p:ph type="ftr" sz="quarter" idx="11"/>
          </p:nvPr>
        </p:nvSpPr>
        <p:spPr/>
        <p:txBody>
          <a:bodyPr/>
          <a:lstStyle/>
          <a:p>
            <a:r>
              <a:rPr lang="en-IN"/>
              <a:t>Title of the Project</a:t>
            </a:r>
          </a:p>
        </p:txBody>
      </p:sp>
      <p:sp>
        <p:nvSpPr>
          <p:cNvPr id="4" name="Slide Number Placeholder 3">
            <a:extLst>
              <a:ext uri="{FF2B5EF4-FFF2-40B4-BE49-F238E27FC236}">
                <a16:creationId xmlns:a16="http://schemas.microsoft.com/office/drawing/2014/main" id="{9EF6B83E-3B41-7B11-9BB9-E7A7E4C8790F}"/>
              </a:ext>
            </a:extLst>
          </p:cNvPr>
          <p:cNvSpPr>
            <a:spLocks noGrp="1"/>
          </p:cNvSpPr>
          <p:nvPr>
            <p:ph type="sldNum" sz="quarter" idx="12"/>
          </p:nvPr>
        </p:nvSpPr>
        <p:spPr/>
        <p:txBody>
          <a:bodyPr/>
          <a:lstStyle/>
          <a:p>
            <a:fld id="{9D3FF152-60F5-4862-82F9-1190556AA56F}" type="slidenum">
              <a:rPr lang="en-IN" smtClean="0"/>
              <a:t>18</a:t>
            </a:fld>
            <a:endParaRPr lang="en-IN"/>
          </a:p>
        </p:txBody>
      </p:sp>
      <p:sp>
        <p:nvSpPr>
          <p:cNvPr id="5" name="Date Placeholder 1">
            <a:extLst>
              <a:ext uri="{FF2B5EF4-FFF2-40B4-BE49-F238E27FC236}">
                <a16:creationId xmlns:a16="http://schemas.microsoft.com/office/drawing/2014/main" id="{1493FC1A-E53C-1DE4-EDEB-9D0BA9F0B3C1}"/>
              </a:ext>
            </a:extLst>
          </p:cNvPr>
          <p:cNvSpPr txBox="1">
            <a:spLocks/>
          </p:cNvSpPr>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9E1635-4293-4BDB-9808-27ED47FEDDC8}" type="datetime1">
              <a:rPr lang="en-IN" smtClean="0"/>
              <a:pPr/>
              <a:t>03-04-2025</a:t>
            </a:fld>
            <a:endParaRPr lang="en-IN"/>
          </a:p>
        </p:txBody>
      </p:sp>
      <p:sp>
        <p:nvSpPr>
          <p:cNvPr id="6" name="Footer Placeholder 2">
            <a:extLst>
              <a:ext uri="{FF2B5EF4-FFF2-40B4-BE49-F238E27FC236}">
                <a16:creationId xmlns:a16="http://schemas.microsoft.com/office/drawing/2014/main" id="{5F042418-2C42-CB6E-F40F-1E062223A3B0}"/>
              </a:ext>
            </a:extLst>
          </p:cNvPr>
          <p:cNvSpPr txBox="1">
            <a:spLocks/>
          </p:cNvSpPr>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Title of the Project</a:t>
            </a:r>
          </a:p>
        </p:txBody>
      </p:sp>
      <p:sp>
        <p:nvSpPr>
          <p:cNvPr id="7" name="Slide Number Placeholder 3">
            <a:extLst>
              <a:ext uri="{FF2B5EF4-FFF2-40B4-BE49-F238E27FC236}">
                <a16:creationId xmlns:a16="http://schemas.microsoft.com/office/drawing/2014/main" id="{2255D15F-E570-8454-1BD6-CBD0CF2ADAC1}"/>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D3FF152-60F5-4862-82F9-1190556AA56F}" type="slidenum">
              <a:rPr lang="en-IN" smtClean="0"/>
              <a:pPr/>
              <a:t>18</a:t>
            </a:fld>
            <a:endParaRPr lang="en-IN"/>
          </a:p>
        </p:txBody>
      </p:sp>
      <p:pic>
        <p:nvPicPr>
          <p:cNvPr id="10" name="Picture 9">
            <a:extLst>
              <a:ext uri="{FF2B5EF4-FFF2-40B4-BE49-F238E27FC236}">
                <a16:creationId xmlns:a16="http://schemas.microsoft.com/office/drawing/2014/main" id="{23E9E4F9-8A84-D7B4-186A-FECD9128B3FE}"/>
              </a:ext>
            </a:extLst>
          </p:cNvPr>
          <p:cNvPicPr>
            <a:picLocks noChangeAspect="1"/>
          </p:cNvPicPr>
          <p:nvPr/>
        </p:nvPicPr>
        <p:blipFill>
          <a:blip r:embed="rId2"/>
          <a:stretch>
            <a:fillRect/>
          </a:stretch>
        </p:blipFill>
        <p:spPr>
          <a:xfrm>
            <a:off x="161161" y="816637"/>
            <a:ext cx="8821677" cy="5224725"/>
          </a:xfrm>
          <a:prstGeom prst="rect">
            <a:avLst/>
          </a:prstGeom>
        </p:spPr>
      </p:pic>
      <p:sp>
        <p:nvSpPr>
          <p:cNvPr id="12" name="TextBox 11">
            <a:extLst>
              <a:ext uri="{FF2B5EF4-FFF2-40B4-BE49-F238E27FC236}">
                <a16:creationId xmlns:a16="http://schemas.microsoft.com/office/drawing/2014/main" id="{5D2CA537-A64F-48DD-3C53-4EF9A0CB903E}"/>
              </a:ext>
            </a:extLst>
          </p:cNvPr>
          <p:cNvSpPr txBox="1"/>
          <p:nvPr/>
        </p:nvSpPr>
        <p:spPr>
          <a:xfrm>
            <a:off x="1376680" y="10160"/>
            <a:ext cx="7020560" cy="646331"/>
          </a:xfrm>
          <a:prstGeom prst="rect">
            <a:avLst/>
          </a:prstGeom>
          <a:noFill/>
        </p:spPr>
        <p:txBody>
          <a:bodyPr wrap="square">
            <a:spAutoFit/>
          </a:bodyPr>
          <a:lstStyle/>
          <a:p>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Squence</a:t>
            </a:r>
            <a:r>
              <a:rPr lang="pt-BR" sz="3600" dirty="0">
                <a:solidFill>
                  <a:srgbClr val="222222"/>
                </a:solidFill>
                <a:effectLst/>
                <a:latin typeface="Arial" panose="020B0604020202020204" pitchFamily="34" charset="0"/>
                <a:ea typeface="Calibri" panose="020F0502020204030204" pitchFamily="34" charset="0"/>
              </a:rPr>
              <a:t>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Diagram</a:t>
            </a:r>
            <a:endParaRPr lang="en-IN" sz="3600"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0593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7C3E4E9-4199-339C-75CA-C1D0D0AF6F57}"/>
              </a:ext>
            </a:extLst>
          </p:cNvPr>
          <p:cNvSpPr>
            <a:spLocks noGrp="1"/>
          </p:cNvSpPr>
          <p:nvPr>
            <p:ph type="dt" sz="half" idx="10"/>
          </p:nvPr>
        </p:nvSpPr>
        <p:spPr/>
        <p:txBody>
          <a:bodyPr/>
          <a:lstStyle/>
          <a:p>
            <a:fld id="{2D949113-FF7A-40B9-8139-10E567AB16BA}" type="datetime1">
              <a:rPr lang="en-IN" smtClean="0"/>
              <a:t>03-04-2025</a:t>
            </a:fld>
            <a:endParaRPr lang="en-IN"/>
          </a:p>
        </p:txBody>
      </p:sp>
      <p:sp>
        <p:nvSpPr>
          <p:cNvPr id="5" name="Slide Number Placeholder 4">
            <a:extLst>
              <a:ext uri="{FF2B5EF4-FFF2-40B4-BE49-F238E27FC236}">
                <a16:creationId xmlns:a16="http://schemas.microsoft.com/office/drawing/2014/main" id="{8BBB847C-58FB-58C8-32C9-9A8BAF62EA4A}"/>
              </a:ext>
            </a:extLst>
          </p:cNvPr>
          <p:cNvSpPr>
            <a:spLocks noGrp="1"/>
          </p:cNvSpPr>
          <p:nvPr>
            <p:ph type="sldNum" sz="quarter" idx="12"/>
          </p:nvPr>
        </p:nvSpPr>
        <p:spPr/>
        <p:txBody>
          <a:bodyPr/>
          <a:lstStyle/>
          <a:p>
            <a:fld id="{9D3FF152-60F5-4862-82F9-1190556AA56F}" type="slidenum">
              <a:rPr lang="en-IN" smtClean="0"/>
              <a:t>19</a:t>
            </a:fld>
            <a:endParaRPr lang="en-IN"/>
          </a:p>
        </p:txBody>
      </p:sp>
      <p:sp>
        <p:nvSpPr>
          <p:cNvPr id="6" name="Footer Placeholder 5">
            <a:extLst>
              <a:ext uri="{FF2B5EF4-FFF2-40B4-BE49-F238E27FC236}">
                <a16:creationId xmlns:a16="http://schemas.microsoft.com/office/drawing/2014/main" id="{4CC9CFD2-EB2F-6895-48F0-E578AAFB86F9}"/>
              </a:ext>
            </a:extLst>
          </p:cNvPr>
          <p:cNvSpPr>
            <a:spLocks noGrp="1"/>
          </p:cNvSpPr>
          <p:nvPr>
            <p:ph type="ftr" sz="quarter" idx="11"/>
          </p:nvPr>
        </p:nvSpPr>
        <p:spPr/>
        <p:txBody>
          <a:bodyPr/>
          <a:lstStyle/>
          <a:p>
            <a:r>
              <a:rPr lang="en-IN"/>
              <a:t>Title of the Project</a:t>
            </a:r>
          </a:p>
        </p:txBody>
      </p:sp>
      <p:sp>
        <p:nvSpPr>
          <p:cNvPr id="8" name="TextBox 7">
            <a:extLst>
              <a:ext uri="{FF2B5EF4-FFF2-40B4-BE49-F238E27FC236}">
                <a16:creationId xmlns:a16="http://schemas.microsoft.com/office/drawing/2014/main" id="{01D747E8-587B-6E5B-14A9-478AECDA7D86}"/>
              </a:ext>
            </a:extLst>
          </p:cNvPr>
          <p:cNvSpPr txBox="1"/>
          <p:nvPr/>
        </p:nvSpPr>
        <p:spPr>
          <a:xfrm>
            <a:off x="873760" y="1631616"/>
            <a:ext cx="7416800" cy="1992661"/>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Modules:</a:t>
            </a:r>
            <a:endParaRPr lang="en-US" sz="14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Admin (Land Inspector)</a:t>
            </a:r>
          </a:p>
          <a:p>
            <a:pPr marL="342900" lvl="0" indent="-34290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Buyer</a:t>
            </a:r>
          </a:p>
          <a:p>
            <a:pPr marL="342900" lvl="0" indent="-34290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Seller</a:t>
            </a:r>
          </a:p>
          <a:p>
            <a:pPr marL="342900" lvl="0" indent="-34290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Land Verification and Transaction Management using Blockchain</a:t>
            </a:r>
          </a:p>
          <a:p>
            <a:pPr marL="342900" indent="-34290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Machine Learning for Agriculture and Market Trend Analysis</a:t>
            </a:r>
          </a:p>
        </p:txBody>
      </p:sp>
    </p:spTree>
    <p:extLst>
      <p:ext uri="{BB962C8B-B14F-4D97-AF65-F5344CB8AC3E}">
        <p14:creationId xmlns:p14="http://schemas.microsoft.com/office/powerpoint/2010/main" val="2547520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C0E9-8F27-43C7-56D5-AEDF09F40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B707D-7B1E-D524-EFD2-B8B6525327CF}"/>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AB4F9D56-EBAA-285C-EEF4-B5A2B9D224F6}"/>
              </a:ext>
            </a:extLst>
          </p:cNvPr>
          <p:cNvSpPr>
            <a:spLocks noGrp="1"/>
          </p:cNvSpPr>
          <p:nvPr>
            <p:ph type="dt" sz="half" idx="10"/>
          </p:nvPr>
        </p:nvSpPr>
        <p:spPr/>
        <p:txBody>
          <a:bodyPr/>
          <a:lstStyle/>
          <a:p>
            <a:fld id="{32F8DBF1-1527-4697-BE85-B9C494A9BC35}" type="datetime1">
              <a:rPr lang="en-IN" smtClean="0"/>
              <a:t>03-04-2025</a:t>
            </a:fld>
            <a:endParaRPr lang="en-IN"/>
          </a:p>
        </p:txBody>
      </p:sp>
      <p:sp>
        <p:nvSpPr>
          <p:cNvPr id="5" name="Slide Number Placeholder 4">
            <a:extLst>
              <a:ext uri="{FF2B5EF4-FFF2-40B4-BE49-F238E27FC236}">
                <a16:creationId xmlns:a16="http://schemas.microsoft.com/office/drawing/2014/main" id="{3236325A-CB24-D4DF-B241-7B1034510424}"/>
              </a:ext>
            </a:extLst>
          </p:cNvPr>
          <p:cNvSpPr>
            <a:spLocks noGrp="1"/>
          </p:cNvSpPr>
          <p:nvPr>
            <p:ph type="sldNum" sz="quarter" idx="12"/>
          </p:nvPr>
        </p:nvSpPr>
        <p:spPr/>
        <p:txBody>
          <a:bodyPr/>
          <a:lstStyle/>
          <a:p>
            <a:fld id="{9D3FF152-60F5-4862-82F9-1190556AA56F}" type="slidenum">
              <a:rPr lang="en-IN" smtClean="0"/>
              <a:t>20</a:t>
            </a:fld>
            <a:endParaRPr lang="en-IN"/>
          </a:p>
        </p:txBody>
      </p:sp>
      <p:sp>
        <p:nvSpPr>
          <p:cNvPr id="6" name="Footer Placeholder 5">
            <a:extLst>
              <a:ext uri="{FF2B5EF4-FFF2-40B4-BE49-F238E27FC236}">
                <a16:creationId xmlns:a16="http://schemas.microsoft.com/office/drawing/2014/main" id="{3E4A5C17-8BE5-DAA7-5A3F-CAF71BEAA45A}"/>
              </a:ext>
            </a:extLst>
          </p:cNvPr>
          <p:cNvSpPr>
            <a:spLocks noGrp="1"/>
          </p:cNvSpPr>
          <p:nvPr>
            <p:ph type="ftr" sz="quarter" idx="11"/>
          </p:nvPr>
        </p:nvSpPr>
        <p:spPr/>
        <p:txBody>
          <a:bodyPr/>
          <a:lstStyle/>
          <a:p>
            <a:r>
              <a:rPr lang="en-IN"/>
              <a:t>Title of the Project</a:t>
            </a:r>
          </a:p>
        </p:txBody>
      </p:sp>
      <p:sp>
        <p:nvSpPr>
          <p:cNvPr id="8" name="TextBox 7">
            <a:extLst>
              <a:ext uri="{FF2B5EF4-FFF2-40B4-BE49-F238E27FC236}">
                <a16:creationId xmlns:a16="http://schemas.microsoft.com/office/drawing/2014/main" id="{D5A4522F-AEAF-46AC-F2B6-5312A3DAB351}"/>
              </a:ext>
            </a:extLst>
          </p:cNvPr>
          <p:cNvSpPr txBox="1"/>
          <p:nvPr/>
        </p:nvSpPr>
        <p:spPr>
          <a:xfrm>
            <a:off x="172720" y="1317475"/>
            <a:ext cx="8798560" cy="1992661"/>
          </a:xfrm>
          <a:prstGeom prst="rect">
            <a:avLst/>
          </a:prstGeom>
          <a:noFill/>
        </p:spPr>
        <p:txBody>
          <a:bodyPr wrap="square">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Admin (Land Inspector): </a:t>
            </a: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The Admin acts as the land inspector responsible for verifying the authenticity and ownership of a seller’s land. Before any transaction, the Admin must approve the seller's land, ensuring all land records are accurate and meet regulatory standards. Admin can access blockchain-stored verification data, perform checks, and confirm if a land parcel is eligible for sale. Only after this verification can the seller proceed to list the land for buyers to view and purchase. Admin actions are recorded on the blockchain to maintain transparency and accountability.</a:t>
            </a:r>
          </a:p>
        </p:txBody>
      </p:sp>
    </p:spTree>
    <p:extLst>
      <p:ext uri="{BB962C8B-B14F-4D97-AF65-F5344CB8AC3E}">
        <p14:creationId xmlns:p14="http://schemas.microsoft.com/office/powerpoint/2010/main" val="383422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D906-AB7D-B467-158F-0AFDF6881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3181A-9B34-9F9B-46CF-B06B3A32596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0E67D59-BAEA-5C96-7363-5F9B4B09FE99}"/>
              </a:ext>
            </a:extLst>
          </p:cNvPr>
          <p:cNvSpPr txBox="1"/>
          <p:nvPr/>
        </p:nvSpPr>
        <p:spPr>
          <a:xfrm>
            <a:off x="218440" y="1319014"/>
            <a:ext cx="8707120" cy="2308324"/>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Buyer:</a:t>
            </a: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Buyer can browse verified land listings on the platform and make requests to purchase land that meets their criteria. Buyers are required to submit necessary identification and financial details to authenticate their requests. Once the Buyer submits a request, they can track the progress, communicate with the Seller, and complete transactions securely through blockchain. Only land verified by the Admin is available to the Buyer, ensuring the authenticity and security of their purchase.</a:t>
            </a:r>
          </a:p>
          <a:p>
            <a:pPr algn="just"/>
            <a:r>
              <a:rPr lang="en-US" sz="1800" dirty="0">
                <a:solidFill>
                  <a:srgbClr val="222222"/>
                </a:solidFill>
                <a:effectLst/>
                <a:latin typeface="Arial" panose="020B0604020202020204" pitchFamily="34" charset="0"/>
                <a:ea typeface="Calibri" panose="020F0502020204030204" pitchFamily="34" charset="0"/>
              </a:rPr>
              <a:t>   </a:t>
            </a:r>
            <a:endParaRPr lang="en-IN" dirty="0"/>
          </a:p>
        </p:txBody>
      </p:sp>
      <p:sp>
        <p:nvSpPr>
          <p:cNvPr id="3" name="Date Placeholder 2">
            <a:extLst>
              <a:ext uri="{FF2B5EF4-FFF2-40B4-BE49-F238E27FC236}">
                <a16:creationId xmlns:a16="http://schemas.microsoft.com/office/drawing/2014/main" id="{047FC2BD-1724-6199-9D29-6EF14970BA20}"/>
              </a:ext>
            </a:extLst>
          </p:cNvPr>
          <p:cNvSpPr>
            <a:spLocks noGrp="1"/>
          </p:cNvSpPr>
          <p:nvPr>
            <p:ph type="dt" sz="half" idx="10"/>
          </p:nvPr>
        </p:nvSpPr>
        <p:spPr/>
        <p:txBody>
          <a:bodyPr/>
          <a:lstStyle/>
          <a:p>
            <a:fld id="{BF12D3EE-FD66-4677-80BB-D7D610DDE236}" type="datetime1">
              <a:rPr lang="en-IN" smtClean="0"/>
              <a:t>03-04-2025</a:t>
            </a:fld>
            <a:endParaRPr lang="en-IN"/>
          </a:p>
        </p:txBody>
      </p:sp>
      <p:sp>
        <p:nvSpPr>
          <p:cNvPr id="5" name="Slide Number Placeholder 4">
            <a:extLst>
              <a:ext uri="{FF2B5EF4-FFF2-40B4-BE49-F238E27FC236}">
                <a16:creationId xmlns:a16="http://schemas.microsoft.com/office/drawing/2014/main" id="{28371C4B-7C44-C037-0D8D-36F40D552362}"/>
              </a:ext>
            </a:extLst>
          </p:cNvPr>
          <p:cNvSpPr>
            <a:spLocks noGrp="1"/>
          </p:cNvSpPr>
          <p:nvPr>
            <p:ph type="sldNum" sz="quarter" idx="12"/>
          </p:nvPr>
        </p:nvSpPr>
        <p:spPr/>
        <p:txBody>
          <a:bodyPr/>
          <a:lstStyle/>
          <a:p>
            <a:fld id="{9D3FF152-60F5-4862-82F9-1190556AA56F}" type="slidenum">
              <a:rPr lang="en-IN" smtClean="0"/>
              <a:t>21</a:t>
            </a:fld>
            <a:endParaRPr lang="en-IN"/>
          </a:p>
        </p:txBody>
      </p:sp>
      <p:sp>
        <p:nvSpPr>
          <p:cNvPr id="6" name="Footer Placeholder 5">
            <a:extLst>
              <a:ext uri="{FF2B5EF4-FFF2-40B4-BE49-F238E27FC236}">
                <a16:creationId xmlns:a16="http://schemas.microsoft.com/office/drawing/2014/main" id="{84CD3E3F-B26B-76C4-0DC0-1D33710550D9}"/>
              </a:ext>
            </a:extLst>
          </p:cNvPr>
          <p:cNvSpPr>
            <a:spLocks noGrp="1"/>
          </p:cNvSpPr>
          <p:nvPr>
            <p:ph type="ftr" sz="quarter" idx="11"/>
          </p:nvPr>
        </p:nvSpPr>
        <p:spPr/>
        <p:txBody>
          <a:bodyPr/>
          <a:lstStyle/>
          <a:p>
            <a:r>
              <a:rPr lang="en-IN"/>
              <a:t>Title of the Project</a:t>
            </a:r>
          </a:p>
        </p:txBody>
      </p:sp>
    </p:spTree>
    <p:extLst>
      <p:ext uri="{BB962C8B-B14F-4D97-AF65-F5344CB8AC3E}">
        <p14:creationId xmlns:p14="http://schemas.microsoft.com/office/powerpoint/2010/main" val="1220858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325D4-B378-9B10-96C3-EE994AA80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55DB9-6059-1B92-52B7-C028CC245902}"/>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27C3A23-A333-9B9A-E891-6F033A8DCEE3}"/>
              </a:ext>
            </a:extLst>
          </p:cNvPr>
          <p:cNvSpPr txBox="1"/>
          <p:nvPr/>
        </p:nvSpPr>
        <p:spPr>
          <a:xfrm>
            <a:off x="286385" y="1128370"/>
            <a:ext cx="8571230" cy="2308324"/>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Seller:</a:t>
            </a: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Seller owns land that they wish to sell within the platform. Sellers must submit proof of ownership and any necessary documentation, which will be reviewed by the Admin for verification. Once the land is verified, the Seller can list it for sale, set a price, and receive requests from potential buyers. Sellers can only complete a sale after Admin verification, adding an extra layer of security to prevent fraud and unauthorized transactions. All transactions are recorded on the blockchain, ensuring a traceable and tamper-proof record of ownership transfer.</a:t>
            </a:r>
          </a:p>
          <a:p>
            <a:r>
              <a:rPr lang="en-US" sz="1800" dirty="0">
                <a:solidFill>
                  <a:srgbClr val="222222"/>
                </a:solidFill>
                <a:effectLst/>
                <a:latin typeface="Arial" panose="020B0604020202020204" pitchFamily="34" charset="0"/>
                <a:ea typeface="Calibri" panose="020F0502020204030204" pitchFamily="34" charset="0"/>
              </a:rPr>
              <a:t>  </a:t>
            </a:r>
            <a:endParaRPr lang="en-IN" dirty="0"/>
          </a:p>
        </p:txBody>
      </p:sp>
      <p:sp>
        <p:nvSpPr>
          <p:cNvPr id="3" name="Date Placeholder 2">
            <a:extLst>
              <a:ext uri="{FF2B5EF4-FFF2-40B4-BE49-F238E27FC236}">
                <a16:creationId xmlns:a16="http://schemas.microsoft.com/office/drawing/2014/main" id="{319DDF37-A02C-1B7C-81BF-D06533BD63C0}"/>
              </a:ext>
            </a:extLst>
          </p:cNvPr>
          <p:cNvSpPr>
            <a:spLocks noGrp="1"/>
          </p:cNvSpPr>
          <p:nvPr>
            <p:ph type="dt" sz="half" idx="10"/>
          </p:nvPr>
        </p:nvSpPr>
        <p:spPr/>
        <p:txBody>
          <a:bodyPr/>
          <a:lstStyle/>
          <a:p>
            <a:fld id="{7873791D-E80F-45A0-8335-C0B2BEA6B232}" type="datetime1">
              <a:rPr lang="en-IN" smtClean="0"/>
              <a:t>03-04-2025</a:t>
            </a:fld>
            <a:endParaRPr lang="en-IN"/>
          </a:p>
        </p:txBody>
      </p:sp>
      <p:sp>
        <p:nvSpPr>
          <p:cNvPr id="5" name="Slide Number Placeholder 4">
            <a:extLst>
              <a:ext uri="{FF2B5EF4-FFF2-40B4-BE49-F238E27FC236}">
                <a16:creationId xmlns:a16="http://schemas.microsoft.com/office/drawing/2014/main" id="{3E1942A8-AFEE-8785-303F-AD3DDBD9C735}"/>
              </a:ext>
            </a:extLst>
          </p:cNvPr>
          <p:cNvSpPr>
            <a:spLocks noGrp="1"/>
          </p:cNvSpPr>
          <p:nvPr>
            <p:ph type="sldNum" sz="quarter" idx="12"/>
          </p:nvPr>
        </p:nvSpPr>
        <p:spPr/>
        <p:txBody>
          <a:bodyPr/>
          <a:lstStyle/>
          <a:p>
            <a:fld id="{9D3FF152-60F5-4862-82F9-1190556AA56F}" type="slidenum">
              <a:rPr lang="en-IN" smtClean="0"/>
              <a:t>22</a:t>
            </a:fld>
            <a:endParaRPr lang="en-IN"/>
          </a:p>
        </p:txBody>
      </p:sp>
      <p:sp>
        <p:nvSpPr>
          <p:cNvPr id="6" name="Footer Placeholder 5">
            <a:extLst>
              <a:ext uri="{FF2B5EF4-FFF2-40B4-BE49-F238E27FC236}">
                <a16:creationId xmlns:a16="http://schemas.microsoft.com/office/drawing/2014/main" id="{09728822-741D-C932-AE1E-21187D3006CA}"/>
              </a:ext>
            </a:extLst>
          </p:cNvPr>
          <p:cNvSpPr>
            <a:spLocks noGrp="1"/>
          </p:cNvSpPr>
          <p:nvPr>
            <p:ph type="ftr" sz="quarter" idx="11"/>
          </p:nvPr>
        </p:nvSpPr>
        <p:spPr/>
        <p:txBody>
          <a:bodyPr/>
          <a:lstStyle/>
          <a:p>
            <a:r>
              <a:rPr lang="en-IN"/>
              <a:t>Title of the Project</a:t>
            </a:r>
          </a:p>
        </p:txBody>
      </p:sp>
    </p:spTree>
    <p:extLst>
      <p:ext uri="{BB962C8B-B14F-4D97-AF65-F5344CB8AC3E}">
        <p14:creationId xmlns:p14="http://schemas.microsoft.com/office/powerpoint/2010/main" val="1541872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81D59E-633C-005E-E5EF-A64BEC53C657}"/>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B75E05A2-6159-25C9-5C8C-719454692078}"/>
              </a:ext>
            </a:extLst>
          </p:cNvPr>
          <p:cNvSpPr>
            <a:spLocks noGrp="1"/>
          </p:cNvSpPr>
          <p:nvPr>
            <p:ph type="ftr" sz="quarter" idx="11"/>
          </p:nvPr>
        </p:nvSpPr>
        <p:spPr/>
        <p:txBody>
          <a:bodyPr/>
          <a:lstStyle/>
          <a:p>
            <a:r>
              <a:rPr lang="en-IN" dirty="0"/>
              <a:t>Title of the Project</a:t>
            </a:r>
          </a:p>
        </p:txBody>
      </p:sp>
      <p:sp>
        <p:nvSpPr>
          <p:cNvPr id="4" name="Slide Number Placeholder 3">
            <a:extLst>
              <a:ext uri="{FF2B5EF4-FFF2-40B4-BE49-F238E27FC236}">
                <a16:creationId xmlns:a16="http://schemas.microsoft.com/office/drawing/2014/main" id="{A1C71A7E-3B17-08EB-45B4-C98441750FA9}"/>
              </a:ext>
            </a:extLst>
          </p:cNvPr>
          <p:cNvSpPr>
            <a:spLocks noGrp="1"/>
          </p:cNvSpPr>
          <p:nvPr>
            <p:ph type="sldNum" sz="quarter" idx="12"/>
          </p:nvPr>
        </p:nvSpPr>
        <p:spPr/>
        <p:txBody>
          <a:bodyPr/>
          <a:lstStyle/>
          <a:p>
            <a:fld id="{9D3FF152-60F5-4862-82F9-1190556AA56F}" type="slidenum">
              <a:rPr lang="en-IN" smtClean="0"/>
              <a:t>23</a:t>
            </a:fld>
            <a:endParaRPr lang="en-IN"/>
          </a:p>
        </p:txBody>
      </p:sp>
      <p:sp>
        <p:nvSpPr>
          <p:cNvPr id="9" name="TextBox 8">
            <a:extLst>
              <a:ext uri="{FF2B5EF4-FFF2-40B4-BE49-F238E27FC236}">
                <a16:creationId xmlns:a16="http://schemas.microsoft.com/office/drawing/2014/main" id="{6E333BE3-0FF9-5EAE-9BCC-6B1DA4912B82}"/>
              </a:ext>
            </a:extLst>
          </p:cNvPr>
          <p:cNvSpPr txBox="1"/>
          <p:nvPr/>
        </p:nvSpPr>
        <p:spPr>
          <a:xfrm>
            <a:off x="2458720" y="0"/>
            <a:ext cx="4572000" cy="646331"/>
          </a:xfrm>
          <a:prstGeom prst="rect">
            <a:avLst/>
          </a:prstGeom>
          <a:noFill/>
        </p:spPr>
        <p:txBody>
          <a:bodyPr wrap="square">
            <a:spAutoFit/>
          </a:bodyPr>
          <a:lstStyle/>
          <a:p>
            <a:r>
              <a:rPr kumimoji="0" lang="en-US" sz="3600" b="1" i="0" u="none" strike="noStrike" kern="1200" cap="none" spc="0" normalizeH="0" baseline="0"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dirty="0"/>
          </a:p>
        </p:txBody>
      </p:sp>
      <p:sp>
        <p:nvSpPr>
          <p:cNvPr id="11" name="TextBox 10">
            <a:extLst>
              <a:ext uri="{FF2B5EF4-FFF2-40B4-BE49-F238E27FC236}">
                <a16:creationId xmlns:a16="http://schemas.microsoft.com/office/drawing/2014/main" id="{110E8E7C-5FDB-611F-9190-E09296569EBE}"/>
              </a:ext>
            </a:extLst>
          </p:cNvPr>
          <p:cNvSpPr txBox="1"/>
          <p:nvPr/>
        </p:nvSpPr>
        <p:spPr>
          <a:xfrm>
            <a:off x="121920" y="1271121"/>
            <a:ext cx="9022080" cy="1992661"/>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Land Verification and Transaction Management using Blockchain:</a:t>
            </a: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This module leverages blockchain technology to secure, record, and manage land verification and transactions. Blockchain ensures that each land asset is uniquely identifiable and that all ownership and transaction records are immutable and transparent. Through this module, the platform ensures compliance, verifies data integrity, and minimizes the risk of fraud. Buyers, Sellers, and Admins interact through this system, which guarantees that all records are trustworthy, secure, and traceable.</a:t>
            </a:r>
          </a:p>
        </p:txBody>
      </p:sp>
    </p:spTree>
    <p:extLst>
      <p:ext uri="{BB962C8B-B14F-4D97-AF65-F5344CB8AC3E}">
        <p14:creationId xmlns:p14="http://schemas.microsoft.com/office/powerpoint/2010/main" val="4070901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E3C35B-85E0-991C-D741-651C1E25717D}"/>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4B5449E5-4236-B821-ACCF-FF8B469E6B7E}"/>
              </a:ext>
            </a:extLst>
          </p:cNvPr>
          <p:cNvSpPr>
            <a:spLocks noGrp="1"/>
          </p:cNvSpPr>
          <p:nvPr>
            <p:ph type="ftr" sz="quarter" idx="11"/>
          </p:nvPr>
        </p:nvSpPr>
        <p:spPr/>
        <p:txBody>
          <a:bodyPr/>
          <a:lstStyle/>
          <a:p>
            <a:r>
              <a:rPr lang="en-IN"/>
              <a:t>Title of the Project</a:t>
            </a:r>
          </a:p>
        </p:txBody>
      </p:sp>
      <p:sp>
        <p:nvSpPr>
          <p:cNvPr id="4" name="Slide Number Placeholder 3">
            <a:extLst>
              <a:ext uri="{FF2B5EF4-FFF2-40B4-BE49-F238E27FC236}">
                <a16:creationId xmlns:a16="http://schemas.microsoft.com/office/drawing/2014/main" id="{A24F852C-29E2-F52D-9D72-8F94A8115D36}"/>
              </a:ext>
            </a:extLst>
          </p:cNvPr>
          <p:cNvSpPr>
            <a:spLocks noGrp="1"/>
          </p:cNvSpPr>
          <p:nvPr>
            <p:ph type="sldNum" sz="quarter" idx="12"/>
          </p:nvPr>
        </p:nvSpPr>
        <p:spPr/>
        <p:txBody>
          <a:bodyPr/>
          <a:lstStyle/>
          <a:p>
            <a:fld id="{9D3FF152-60F5-4862-82F9-1190556AA56F}" type="slidenum">
              <a:rPr lang="en-IN" smtClean="0"/>
              <a:t>24</a:t>
            </a:fld>
            <a:endParaRPr lang="en-IN"/>
          </a:p>
        </p:txBody>
      </p:sp>
      <p:sp>
        <p:nvSpPr>
          <p:cNvPr id="8" name="TextBox 7">
            <a:extLst>
              <a:ext uri="{FF2B5EF4-FFF2-40B4-BE49-F238E27FC236}">
                <a16:creationId xmlns:a16="http://schemas.microsoft.com/office/drawing/2014/main" id="{8971B89D-ACF7-7A1E-BBDD-7337FE8FB270}"/>
              </a:ext>
            </a:extLst>
          </p:cNvPr>
          <p:cNvSpPr txBox="1"/>
          <p:nvPr/>
        </p:nvSpPr>
        <p:spPr>
          <a:xfrm>
            <a:off x="2686050" y="0"/>
            <a:ext cx="4572000" cy="646331"/>
          </a:xfrm>
          <a:prstGeom prst="rect">
            <a:avLst/>
          </a:prstGeom>
          <a:noFill/>
        </p:spPr>
        <p:txBody>
          <a:bodyPr wrap="square">
            <a:spAutoFit/>
          </a:bodyPr>
          <a:lstStyle/>
          <a:p>
            <a:r>
              <a:rPr kumimoji="0" lang="en-US" sz="3600" b="1" i="0" u="none" strike="noStrike" kern="1200" cap="none" spc="0" normalizeH="0" baseline="0"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dirty="0"/>
          </a:p>
        </p:txBody>
      </p:sp>
      <p:sp>
        <p:nvSpPr>
          <p:cNvPr id="10" name="TextBox 9">
            <a:extLst>
              <a:ext uri="{FF2B5EF4-FFF2-40B4-BE49-F238E27FC236}">
                <a16:creationId xmlns:a16="http://schemas.microsoft.com/office/drawing/2014/main" id="{D31086C8-62CD-E67F-4855-CE6B57224ECA}"/>
              </a:ext>
            </a:extLst>
          </p:cNvPr>
          <p:cNvSpPr txBox="1"/>
          <p:nvPr/>
        </p:nvSpPr>
        <p:spPr>
          <a:xfrm>
            <a:off x="240665" y="1071662"/>
            <a:ext cx="8662670" cy="1992661"/>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Machine Learning for Agriculture and Market Trend Analysis:</a:t>
            </a: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Machine learning algorithms analyze market trends, land values, and agricultural productivity in the region. By processing historical and real-time data, the system provides insights to Sellers on ideal selling times and fair market values. Buyers can view predictions on land value appreciation or agricultural yield, aiding them in making informed decisions. This module uses data pre-processing, feature extraction, and correlation analysis to detect patterns that influence agricultural markets, adding value to the platform through predictive analytics.</a:t>
            </a:r>
          </a:p>
        </p:txBody>
      </p:sp>
    </p:spTree>
    <p:extLst>
      <p:ext uri="{BB962C8B-B14F-4D97-AF65-F5344CB8AC3E}">
        <p14:creationId xmlns:p14="http://schemas.microsoft.com/office/powerpoint/2010/main" val="3055304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2CDF707B-94FE-F18B-F474-DCC4DAAA8712}"/>
              </a:ext>
            </a:extLst>
          </p:cNvPr>
          <p:cNvSpPr>
            <a:spLocks noGrp="1"/>
          </p:cNvSpPr>
          <p:nvPr>
            <p:ph type="dt" sz="half" idx="10"/>
          </p:nvPr>
        </p:nvSpPr>
        <p:spPr/>
        <p:txBody>
          <a:bodyPr/>
          <a:lstStyle/>
          <a:p>
            <a:fld id="{5B5F191C-D7D2-437B-ABFF-C7F68D597B22}" type="datetime1">
              <a:rPr lang="en-IN" smtClean="0"/>
              <a:t>03-04-2025</a:t>
            </a:fld>
            <a:endParaRPr lang="en-IN"/>
          </a:p>
        </p:txBody>
      </p:sp>
      <p:sp>
        <p:nvSpPr>
          <p:cNvPr id="5" name="Slide Number Placeholder 4">
            <a:extLst>
              <a:ext uri="{FF2B5EF4-FFF2-40B4-BE49-F238E27FC236}">
                <a16:creationId xmlns:a16="http://schemas.microsoft.com/office/drawing/2014/main" id="{0C193825-7EA1-3874-5BC1-CAFD6A778198}"/>
              </a:ext>
            </a:extLst>
          </p:cNvPr>
          <p:cNvSpPr>
            <a:spLocks noGrp="1"/>
          </p:cNvSpPr>
          <p:nvPr>
            <p:ph type="sldNum" sz="quarter" idx="12"/>
          </p:nvPr>
        </p:nvSpPr>
        <p:spPr/>
        <p:txBody>
          <a:bodyPr/>
          <a:lstStyle/>
          <a:p>
            <a:fld id="{9D3FF152-60F5-4862-82F9-1190556AA56F}" type="slidenum">
              <a:rPr lang="en-IN" smtClean="0"/>
              <a:t>25</a:t>
            </a:fld>
            <a:endParaRPr lang="en-IN"/>
          </a:p>
        </p:txBody>
      </p:sp>
      <p:sp>
        <p:nvSpPr>
          <p:cNvPr id="6" name="Footer Placeholder 5">
            <a:extLst>
              <a:ext uri="{FF2B5EF4-FFF2-40B4-BE49-F238E27FC236}">
                <a16:creationId xmlns:a16="http://schemas.microsoft.com/office/drawing/2014/main" id="{74AEEE17-800D-5191-5AC4-5198C0D2F384}"/>
              </a:ext>
            </a:extLst>
          </p:cNvPr>
          <p:cNvSpPr>
            <a:spLocks noGrp="1"/>
          </p:cNvSpPr>
          <p:nvPr>
            <p:ph type="ftr" sz="quarter" idx="11"/>
          </p:nvPr>
        </p:nvSpPr>
        <p:spPr/>
        <p:txBody>
          <a:bodyPr/>
          <a:lstStyle/>
          <a:p>
            <a:r>
              <a:rPr lang="en-IN"/>
              <a:t>Title of the Project</a:t>
            </a:r>
          </a:p>
        </p:txBody>
      </p:sp>
      <p:sp>
        <p:nvSpPr>
          <p:cNvPr id="8" name="TextBox 7">
            <a:extLst>
              <a:ext uri="{FF2B5EF4-FFF2-40B4-BE49-F238E27FC236}">
                <a16:creationId xmlns:a16="http://schemas.microsoft.com/office/drawing/2014/main" id="{678BD1F4-1419-C8AA-C2C6-DBAF7C5B53BC}"/>
              </a:ext>
            </a:extLst>
          </p:cNvPr>
          <p:cNvSpPr txBox="1"/>
          <p:nvPr/>
        </p:nvSpPr>
        <p:spPr>
          <a:xfrm>
            <a:off x="628650" y="1030466"/>
            <a:ext cx="7763510" cy="3608488"/>
          </a:xfrm>
          <a:prstGeom prst="rect">
            <a:avLst/>
          </a:prstGeom>
          <a:noFill/>
        </p:spPr>
        <p:txBody>
          <a:bodyPr wrap="square">
            <a:spAutoFit/>
          </a:bodyPr>
          <a:lstStyle/>
          <a:p>
            <a:pPr algn="just">
              <a:lnSpc>
                <a:spcPct val="150000"/>
              </a:lnSpc>
              <a:buNone/>
            </a:pPr>
            <a:r>
              <a:rPr lang="en-US" sz="1400" b="1" dirty="0">
                <a:latin typeface="Times New Roman" panose="02020603050405020304" pitchFamily="18" charset="0"/>
                <a:cs typeface="Times New Roman" panose="02020603050405020304" pitchFamily="18" charset="0"/>
              </a:rPr>
              <a:t>Software Testing Techniques</a:t>
            </a:r>
          </a:p>
          <a:p>
            <a:pPr algn="just">
              <a:lnSpc>
                <a:spcPct val="150000"/>
              </a:lnSpc>
            </a:pPr>
            <a:r>
              <a:rPr lang="en-US" sz="1400" dirty="0">
                <a:latin typeface="Times New Roman" panose="02020603050405020304" pitchFamily="18" charset="0"/>
                <a:cs typeface="Times New Roman" panose="02020603050405020304" pitchFamily="18" charset="0"/>
              </a:rPr>
              <a:t>Software testing ensures that the system functions accurately and efficiently before deployment. It aims to identify and fix errors, playing a crucial role in software quality assurance. Different types of testing help validate various aspects of the system. White Box Testing focuses on the internal structure of the software, ensuring all functions are fully operational. Black Box Testing verifies functionality without considering internal code, ensuring the system meets user requirements. Integration Testing checks how different modules interact, identifying data loss or function failures. Security Testing assesses the system’s protection against cyber threats by simulating hacking attempts. Validation Testing ensures the software meets customer expectations and functions as required. Finally, User Acceptance Testing (UAT) is conducted to gain end-user approval, ensuring the system is user-friendly and meets practical needs before final deployment.</a:t>
            </a:r>
          </a:p>
        </p:txBody>
      </p:sp>
    </p:spTree>
    <p:extLst>
      <p:ext uri="{BB962C8B-B14F-4D97-AF65-F5344CB8AC3E}">
        <p14:creationId xmlns:p14="http://schemas.microsoft.com/office/powerpoint/2010/main" val="4035232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D8796-FD80-4E95-3667-6601EA68D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F3983-E996-B752-1F1E-47547844DEA1}"/>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79D1C8A5-8443-B0CF-7CA6-200D23BAB64B}"/>
              </a:ext>
            </a:extLst>
          </p:cNvPr>
          <p:cNvSpPr>
            <a:spLocks noGrp="1"/>
          </p:cNvSpPr>
          <p:nvPr>
            <p:ph type="dt" sz="half" idx="10"/>
          </p:nvPr>
        </p:nvSpPr>
        <p:spPr/>
        <p:txBody>
          <a:bodyPr/>
          <a:lstStyle/>
          <a:p>
            <a:fld id="{8F910233-9C06-4EDA-B95E-CB4A032185B7}" type="datetime1">
              <a:rPr lang="en-IN" smtClean="0"/>
              <a:t>03-04-2025</a:t>
            </a:fld>
            <a:endParaRPr lang="en-IN"/>
          </a:p>
        </p:txBody>
      </p:sp>
      <p:sp>
        <p:nvSpPr>
          <p:cNvPr id="5" name="Slide Number Placeholder 4">
            <a:extLst>
              <a:ext uri="{FF2B5EF4-FFF2-40B4-BE49-F238E27FC236}">
                <a16:creationId xmlns:a16="http://schemas.microsoft.com/office/drawing/2014/main" id="{80CAE307-7D82-DA50-A670-7291E8C56D53}"/>
              </a:ext>
            </a:extLst>
          </p:cNvPr>
          <p:cNvSpPr>
            <a:spLocks noGrp="1"/>
          </p:cNvSpPr>
          <p:nvPr>
            <p:ph type="sldNum" sz="quarter" idx="12"/>
          </p:nvPr>
        </p:nvSpPr>
        <p:spPr/>
        <p:txBody>
          <a:bodyPr/>
          <a:lstStyle/>
          <a:p>
            <a:fld id="{9D3FF152-60F5-4862-82F9-1190556AA56F}" type="slidenum">
              <a:rPr lang="en-IN" smtClean="0"/>
              <a:t>26</a:t>
            </a:fld>
            <a:endParaRPr lang="en-IN"/>
          </a:p>
        </p:txBody>
      </p:sp>
      <p:sp>
        <p:nvSpPr>
          <p:cNvPr id="6" name="Footer Placeholder 5">
            <a:extLst>
              <a:ext uri="{FF2B5EF4-FFF2-40B4-BE49-F238E27FC236}">
                <a16:creationId xmlns:a16="http://schemas.microsoft.com/office/drawing/2014/main" id="{E83F7681-9576-65DD-A748-FE8D29C3BA36}"/>
              </a:ext>
            </a:extLst>
          </p:cNvPr>
          <p:cNvSpPr>
            <a:spLocks noGrp="1"/>
          </p:cNvSpPr>
          <p:nvPr>
            <p:ph type="ftr" sz="quarter" idx="11"/>
          </p:nvPr>
        </p:nvSpPr>
        <p:spPr/>
        <p:txBody>
          <a:bodyPr/>
          <a:lstStyle/>
          <a:p>
            <a:r>
              <a:rPr lang="en-IN"/>
              <a:t>Title of the Project</a:t>
            </a:r>
          </a:p>
        </p:txBody>
      </p:sp>
      <p:sp>
        <p:nvSpPr>
          <p:cNvPr id="8" name="TextBox 7">
            <a:extLst>
              <a:ext uri="{FF2B5EF4-FFF2-40B4-BE49-F238E27FC236}">
                <a16:creationId xmlns:a16="http://schemas.microsoft.com/office/drawing/2014/main" id="{703D20E5-271F-6F38-4144-6F41486CA872}"/>
              </a:ext>
            </a:extLst>
          </p:cNvPr>
          <p:cNvSpPr txBox="1"/>
          <p:nvPr/>
        </p:nvSpPr>
        <p:spPr>
          <a:xfrm>
            <a:off x="628650" y="1132066"/>
            <a:ext cx="8159750" cy="3285323"/>
          </a:xfrm>
          <a:prstGeom prst="rect">
            <a:avLst/>
          </a:prstGeom>
          <a:noFill/>
        </p:spPr>
        <p:txBody>
          <a:bodyPr wrap="square">
            <a:spAutoFit/>
          </a:bodyPr>
          <a:lstStyle/>
          <a:p>
            <a:pPr>
              <a:lnSpc>
                <a:spcPct val="150000"/>
              </a:lnSpc>
              <a:buNone/>
            </a:pPr>
            <a:r>
              <a:rPr lang="en-US" sz="1400" b="1" dirty="0">
                <a:latin typeface="Times New Roman" panose="02020603050405020304" pitchFamily="18" charset="0"/>
                <a:cs typeface="Times New Roman" panose="02020603050405020304" pitchFamily="18" charset="0"/>
              </a:rPr>
              <a:t>Testing Methods &amp; Key Strategies</a:t>
            </a:r>
          </a:p>
          <a:p>
            <a:pPr>
              <a:lnSpc>
                <a:spcPct val="150000"/>
              </a:lnSpc>
            </a:pPr>
            <a:r>
              <a:rPr lang="en-US" sz="1400" dirty="0">
                <a:latin typeface="Times New Roman" panose="02020603050405020304" pitchFamily="18" charset="0"/>
                <a:cs typeface="Times New Roman" panose="02020603050405020304" pitchFamily="18" charset="0"/>
              </a:rPr>
              <a:t>White Box Testing examines the internal code structure and uses techniques such as Basis Path Testing and Cyclomatic Complexity to evaluate software logic. On the other hand, Black Box Testing focuses on functional requirements, using methods like Equivalence Partitioning and Boundary Value Analysis to ensure proper functionality. Integration Testing verifies seamless interaction between different modules, detecting potential data loss and function failures. Security Testing strengthens system defenses by simulating attacks to uncover vulnerabilities. Validation Testing ensures that the software aligns with user expectations through black box testing methods. Finally, User Acceptance Testing (UAT) is performed to confirm that the system meets user needs, with a focus on input and output screen design for improved usability and accessibility. These testing methods together ensure a robust, secure, and efficient land registry system.</a:t>
            </a:r>
          </a:p>
        </p:txBody>
      </p:sp>
    </p:spTree>
    <p:extLst>
      <p:ext uri="{BB962C8B-B14F-4D97-AF65-F5344CB8AC3E}">
        <p14:creationId xmlns:p14="http://schemas.microsoft.com/office/powerpoint/2010/main" val="1525473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90F0A957-C112-EF6D-C238-451630D247C7}"/>
              </a:ext>
            </a:extLst>
          </p:cNvPr>
          <p:cNvSpPr>
            <a:spLocks noGrp="1"/>
          </p:cNvSpPr>
          <p:nvPr>
            <p:ph type="dt" sz="half" idx="10"/>
          </p:nvPr>
        </p:nvSpPr>
        <p:spPr/>
        <p:txBody>
          <a:bodyPr/>
          <a:lstStyle/>
          <a:p>
            <a:fld id="{6956C1CE-CACE-47FC-90A2-A02E4AD860D2}" type="datetime1">
              <a:rPr lang="en-IN" smtClean="0"/>
              <a:t>03-04-2025</a:t>
            </a:fld>
            <a:endParaRPr lang="en-IN"/>
          </a:p>
        </p:txBody>
      </p:sp>
      <p:sp>
        <p:nvSpPr>
          <p:cNvPr id="5" name="Slide Number Placeholder 4">
            <a:extLst>
              <a:ext uri="{FF2B5EF4-FFF2-40B4-BE49-F238E27FC236}">
                <a16:creationId xmlns:a16="http://schemas.microsoft.com/office/drawing/2014/main" id="{97198833-85FA-C44B-804E-1CCDC213431C}"/>
              </a:ext>
            </a:extLst>
          </p:cNvPr>
          <p:cNvSpPr>
            <a:spLocks noGrp="1"/>
          </p:cNvSpPr>
          <p:nvPr>
            <p:ph type="sldNum" sz="quarter" idx="12"/>
          </p:nvPr>
        </p:nvSpPr>
        <p:spPr/>
        <p:txBody>
          <a:bodyPr/>
          <a:lstStyle/>
          <a:p>
            <a:fld id="{9D3FF152-60F5-4862-82F9-1190556AA56F}" type="slidenum">
              <a:rPr lang="en-IN" smtClean="0"/>
              <a:t>27</a:t>
            </a:fld>
            <a:endParaRPr lang="en-IN"/>
          </a:p>
        </p:txBody>
      </p:sp>
      <p:sp>
        <p:nvSpPr>
          <p:cNvPr id="6" name="Footer Placeholder 5">
            <a:extLst>
              <a:ext uri="{FF2B5EF4-FFF2-40B4-BE49-F238E27FC236}">
                <a16:creationId xmlns:a16="http://schemas.microsoft.com/office/drawing/2014/main" id="{07A11D33-9EC1-367D-06D7-7E0A626A3DD6}"/>
              </a:ext>
            </a:extLst>
          </p:cNvPr>
          <p:cNvSpPr>
            <a:spLocks noGrp="1"/>
          </p:cNvSpPr>
          <p:nvPr>
            <p:ph type="ftr" sz="quarter" idx="11"/>
          </p:nvPr>
        </p:nvSpPr>
        <p:spPr/>
        <p:txBody>
          <a:bodyPr/>
          <a:lstStyle/>
          <a:p>
            <a:r>
              <a:rPr lang="en-IN"/>
              <a:t>Title of the Project</a:t>
            </a:r>
          </a:p>
        </p:txBody>
      </p:sp>
      <p:pic>
        <p:nvPicPr>
          <p:cNvPr id="12" name="Picture 11">
            <a:extLst>
              <a:ext uri="{FF2B5EF4-FFF2-40B4-BE49-F238E27FC236}">
                <a16:creationId xmlns:a16="http://schemas.microsoft.com/office/drawing/2014/main" id="{DA7753F3-9E73-7BE6-0784-C78B21B73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50" y="855027"/>
            <a:ext cx="4228013" cy="2278349"/>
          </a:xfrm>
          <a:prstGeom prst="rect">
            <a:avLst/>
          </a:prstGeom>
        </p:spPr>
      </p:pic>
      <p:pic>
        <p:nvPicPr>
          <p:cNvPr id="14" name="Picture 13">
            <a:extLst>
              <a:ext uri="{FF2B5EF4-FFF2-40B4-BE49-F238E27FC236}">
                <a16:creationId xmlns:a16="http://schemas.microsoft.com/office/drawing/2014/main" id="{DE356D84-ECAA-BD6B-3D33-FA217CF48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8630" y="855027"/>
            <a:ext cx="4228013" cy="2278350"/>
          </a:xfrm>
          <a:prstGeom prst="rect">
            <a:avLst/>
          </a:prstGeom>
        </p:spPr>
      </p:pic>
      <p:pic>
        <p:nvPicPr>
          <p:cNvPr id="15" name="Picture 14">
            <a:extLst>
              <a:ext uri="{FF2B5EF4-FFF2-40B4-BE49-F238E27FC236}">
                <a16:creationId xmlns:a16="http://schemas.microsoft.com/office/drawing/2014/main" id="{D9995A89-EAEA-C4EF-F6B7-CCC59F7A7A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4623" y="3429000"/>
            <a:ext cx="4228013" cy="2275197"/>
          </a:xfrm>
          <a:prstGeom prst="rect">
            <a:avLst/>
          </a:prstGeom>
        </p:spPr>
      </p:pic>
    </p:spTree>
    <p:extLst>
      <p:ext uri="{BB962C8B-B14F-4D97-AF65-F5344CB8AC3E}">
        <p14:creationId xmlns:p14="http://schemas.microsoft.com/office/powerpoint/2010/main" val="1126523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3077-6D02-CE4D-D4F8-094054026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6395F-893D-7F37-D0EB-DD801F9BAD88}"/>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E26B7201-A724-670C-E82C-19A2741EA4D2}"/>
              </a:ext>
            </a:extLst>
          </p:cNvPr>
          <p:cNvSpPr>
            <a:spLocks noGrp="1"/>
          </p:cNvSpPr>
          <p:nvPr>
            <p:ph type="dt" sz="half" idx="10"/>
          </p:nvPr>
        </p:nvSpPr>
        <p:spPr/>
        <p:txBody>
          <a:bodyPr/>
          <a:lstStyle/>
          <a:p>
            <a:fld id="{90B8A376-A028-4B2E-948B-5A93DED2192E}" type="datetime1">
              <a:rPr lang="en-IN" smtClean="0"/>
              <a:t>03-04-2025</a:t>
            </a:fld>
            <a:endParaRPr lang="en-IN"/>
          </a:p>
        </p:txBody>
      </p:sp>
      <p:sp>
        <p:nvSpPr>
          <p:cNvPr id="5" name="Slide Number Placeholder 4">
            <a:extLst>
              <a:ext uri="{FF2B5EF4-FFF2-40B4-BE49-F238E27FC236}">
                <a16:creationId xmlns:a16="http://schemas.microsoft.com/office/drawing/2014/main" id="{6E10206F-5FFC-B4D6-DE2C-664A7D179828}"/>
              </a:ext>
            </a:extLst>
          </p:cNvPr>
          <p:cNvSpPr>
            <a:spLocks noGrp="1"/>
          </p:cNvSpPr>
          <p:nvPr>
            <p:ph type="sldNum" sz="quarter" idx="12"/>
          </p:nvPr>
        </p:nvSpPr>
        <p:spPr/>
        <p:txBody>
          <a:bodyPr/>
          <a:lstStyle/>
          <a:p>
            <a:fld id="{9D3FF152-60F5-4862-82F9-1190556AA56F}" type="slidenum">
              <a:rPr lang="en-IN" smtClean="0"/>
              <a:t>28</a:t>
            </a:fld>
            <a:endParaRPr lang="en-IN"/>
          </a:p>
        </p:txBody>
      </p:sp>
      <p:sp>
        <p:nvSpPr>
          <p:cNvPr id="6" name="Footer Placeholder 5">
            <a:extLst>
              <a:ext uri="{FF2B5EF4-FFF2-40B4-BE49-F238E27FC236}">
                <a16:creationId xmlns:a16="http://schemas.microsoft.com/office/drawing/2014/main" id="{5B76BDE4-1258-192F-3519-27C34EC23DBF}"/>
              </a:ext>
            </a:extLst>
          </p:cNvPr>
          <p:cNvSpPr>
            <a:spLocks noGrp="1"/>
          </p:cNvSpPr>
          <p:nvPr>
            <p:ph type="ftr" sz="quarter" idx="11"/>
          </p:nvPr>
        </p:nvSpPr>
        <p:spPr/>
        <p:txBody>
          <a:bodyPr/>
          <a:lstStyle/>
          <a:p>
            <a:r>
              <a:rPr lang="en-IN"/>
              <a:t>Title of the Project</a:t>
            </a:r>
          </a:p>
        </p:txBody>
      </p:sp>
      <p:pic>
        <p:nvPicPr>
          <p:cNvPr id="4" name="Picture 3">
            <a:extLst>
              <a:ext uri="{FF2B5EF4-FFF2-40B4-BE49-F238E27FC236}">
                <a16:creationId xmlns:a16="http://schemas.microsoft.com/office/drawing/2014/main" id="{1F66BF0A-5D94-4666-F71F-D9F6A1C52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0" y="852169"/>
            <a:ext cx="4309112" cy="2317750"/>
          </a:xfrm>
          <a:prstGeom prst="rect">
            <a:avLst/>
          </a:prstGeom>
        </p:spPr>
      </p:pic>
      <p:pic>
        <p:nvPicPr>
          <p:cNvPr id="7" name="Picture 6">
            <a:extLst>
              <a:ext uri="{FF2B5EF4-FFF2-40B4-BE49-F238E27FC236}">
                <a16:creationId xmlns:a16="http://schemas.microsoft.com/office/drawing/2014/main" id="{95F2C6C9-1599-82AC-4A2C-5DC911506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50" y="3428998"/>
            <a:ext cx="4136390" cy="2195829"/>
          </a:xfrm>
          <a:prstGeom prst="rect">
            <a:avLst/>
          </a:prstGeom>
        </p:spPr>
      </p:pic>
      <p:pic>
        <p:nvPicPr>
          <p:cNvPr id="8" name="Picture 7">
            <a:extLst>
              <a:ext uri="{FF2B5EF4-FFF2-40B4-BE49-F238E27FC236}">
                <a16:creationId xmlns:a16="http://schemas.microsoft.com/office/drawing/2014/main" id="{B0450C2D-4666-3E59-14DE-D337058410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450" y="852170"/>
            <a:ext cx="4136390" cy="2317750"/>
          </a:xfrm>
          <a:prstGeom prst="rect">
            <a:avLst/>
          </a:prstGeom>
        </p:spPr>
      </p:pic>
      <p:pic>
        <p:nvPicPr>
          <p:cNvPr id="9" name="Picture 8">
            <a:extLst>
              <a:ext uri="{FF2B5EF4-FFF2-40B4-BE49-F238E27FC236}">
                <a16:creationId xmlns:a16="http://schemas.microsoft.com/office/drawing/2014/main" id="{7D873FEA-690C-3BA5-A654-04EC88BB96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3438" y="3429000"/>
            <a:ext cx="4309112" cy="2195828"/>
          </a:xfrm>
          <a:prstGeom prst="rect">
            <a:avLst/>
          </a:prstGeom>
        </p:spPr>
      </p:pic>
    </p:spTree>
    <p:extLst>
      <p:ext uri="{BB962C8B-B14F-4D97-AF65-F5344CB8AC3E}">
        <p14:creationId xmlns:p14="http://schemas.microsoft.com/office/powerpoint/2010/main" val="2023387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1AECB7-A4A2-DBE9-F79F-6C729CBC3435}"/>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02BB3034-8FBE-D745-FB8B-1E1E2D5E9BA4}"/>
              </a:ext>
            </a:extLst>
          </p:cNvPr>
          <p:cNvSpPr>
            <a:spLocks noGrp="1"/>
          </p:cNvSpPr>
          <p:nvPr>
            <p:ph type="ftr" sz="quarter" idx="11"/>
          </p:nvPr>
        </p:nvSpPr>
        <p:spPr/>
        <p:txBody>
          <a:bodyPr/>
          <a:lstStyle/>
          <a:p>
            <a:r>
              <a:rPr lang="en-IN"/>
              <a:t>Title of the Project</a:t>
            </a:r>
          </a:p>
        </p:txBody>
      </p:sp>
      <p:sp>
        <p:nvSpPr>
          <p:cNvPr id="4" name="Slide Number Placeholder 3">
            <a:extLst>
              <a:ext uri="{FF2B5EF4-FFF2-40B4-BE49-F238E27FC236}">
                <a16:creationId xmlns:a16="http://schemas.microsoft.com/office/drawing/2014/main" id="{FE3BB188-2B92-F5AE-79EB-CE359286BD8E}"/>
              </a:ext>
            </a:extLst>
          </p:cNvPr>
          <p:cNvSpPr>
            <a:spLocks noGrp="1"/>
          </p:cNvSpPr>
          <p:nvPr>
            <p:ph type="sldNum" sz="quarter" idx="12"/>
          </p:nvPr>
        </p:nvSpPr>
        <p:spPr/>
        <p:txBody>
          <a:bodyPr/>
          <a:lstStyle/>
          <a:p>
            <a:fld id="{9D3FF152-60F5-4862-82F9-1190556AA56F}" type="slidenum">
              <a:rPr lang="en-IN" smtClean="0"/>
              <a:t>29</a:t>
            </a:fld>
            <a:endParaRPr lang="en-IN"/>
          </a:p>
        </p:txBody>
      </p:sp>
      <p:pic>
        <p:nvPicPr>
          <p:cNvPr id="6" name="Picture 5">
            <a:extLst>
              <a:ext uri="{FF2B5EF4-FFF2-40B4-BE49-F238E27FC236}">
                <a16:creationId xmlns:a16="http://schemas.microsoft.com/office/drawing/2014/main" id="{01F9EF1C-C83B-5FDC-7811-9D8392733D9E}"/>
              </a:ext>
            </a:extLst>
          </p:cNvPr>
          <p:cNvPicPr>
            <a:picLocks noChangeAspect="1"/>
          </p:cNvPicPr>
          <p:nvPr/>
        </p:nvPicPr>
        <p:blipFill>
          <a:blip r:embed="rId2"/>
          <a:stretch>
            <a:fillRect/>
          </a:stretch>
        </p:blipFill>
        <p:spPr>
          <a:xfrm>
            <a:off x="3402095" y="-106717"/>
            <a:ext cx="2712955" cy="853514"/>
          </a:xfrm>
          <a:prstGeom prst="rect">
            <a:avLst/>
          </a:prstGeom>
        </p:spPr>
      </p:pic>
      <p:pic>
        <p:nvPicPr>
          <p:cNvPr id="7" name="Picture 6">
            <a:extLst>
              <a:ext uri="{FF2B5EF4-FFF2-40B4-BE49-F238E27FC236}">
                <a16:creationId xmlns:a16="http://schemas.microsoft.com/office/drawing/2014/main" id="{D4CD2BCB-B87C-C816-8C39-C6AD66590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50" y="747414"/>
            <a:ext cx="4400550" cy="2372019"/>
          </a:xfrm>
          <a:prstGeom prst="rect">
            <a:avLst/>
          </a:prstGeom>
        </p:spPr>
      </p:pic>
      <p:pic>
        <p:nvPicPr>
          <p:cNvPr id="8" name="Picture 7">
            <a:extLst>
              <a:ext uri="{FF2B5EF4-FFF2-40B4-BE49-F238E27FC236}">
                <a16:creationId xmlns:a16="http://schemas.microsoft.com/office/drawing/2014/main" id="{F3D97D61-8F8D-E7EB-9D34-6B98107EC8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1400" y="746797"/>
            <a:ext cx="4050030" cy="2372019"/>
          </a:xfrm>
          <a:prstGeom prst="rect">
            <a:avLst/>
          </a:prstGeom>
        </p:spPr>
      </p:pic>
      <p:pic>
        <p:nvPicPr>
          <p:cNvPr id="9" name="Picture 8">
            <a:extLst>
              <a:ext uri="{FF2B5EF4-FFF2-40B4-BE49-F238E27FC236}">
                <a16:creationId xmlns:a16="http://schemas.microsoft.com/office/drawing/2014/main" id="{1D1D1FA8-28E1-6599-EEEB-C0F0891100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450" y="3295631"/>
            <a:ext cx="4400550" cy="2372019"/>
          </a:xfrm>
          <a:prstGeom prst="rect">
            <a:avLst/>
          </a:prstGeom>
        </p:spPr>
      </p:pic>
      <p:pic>
        <p:nvPicPr>
          <p:cNvPr id="10" name="Picture 9">
            <a:extLst>
              <a:ext uri="{FF2B5EF4-FFF2-40B4-BE49-F238E27FC236}">
                <a16:creationId xmlns:a16="http://schemas.microsoft.com/office/drawing/2014/main" id="{BF6CFD42-B481-7150-193C-F82FF36A40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51400" y="3295631"/>
            <a:ext cx="4050030" cy="2372019"/>
          </a:xfrm>
          <a:prstGeom prst="rect">
            <a:avLst/>
          </a:prstGeom>
        </p:spPr>
      </p:pic>
    </p:spTree>
    <p:extLst>
      <p:ext uri="{BB962C8B-B14F-4D97-AF65-F5344CB8AC3E}">
        <p14:creationId xmlns:p14="http://schemas.microsoft.com/office/powerpoint/2010/main" val="1490221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1FA1F8-CA95-CDF3-6BEB-243FF44FF5D4}"/>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6ED3B7D5-DA75-D7F5-D24C-4477F1DE0B54}"/>
              </a:ext>
            </a:extLst>
          </p:cNvPr>
          <p:cNvSpPr>
            <a:spLocks noGrp="1"/>
          </p:cNvSpPr>
          <p:nvPr>
            <p:ph type="ftr" sz="quarter" idx="11"/>
          </p:nvPr>
        </p:nvSpPr>
        <p:spPr/>
        <p:txBody>
          <a:bodyPr/>
          <a:lstStyle/>
          <a:p>
            <a:r>
              <a:rPr lang="en-IN"/>
              <a:t>Title of the Project</a:t>
            </a:r>
          </a:p>
        </p:txBody>
      </p:sp>
      <p:sp>
        <p:nvSpPr>
          <p:cNvPr id="4" name="Slide Number Placeholder 3">
            <a:extLst>
              <a:ext uri="{FF2B5EF4-FFF2-40B4-BE49-F238E27FC236}">
                <a16:creationId xmlns:a16="http://schemas.microsoft.com/office/drawing/2014/main" id="{1A48A89E-EE11-AEC1-B1A3-D868F8E5B0D0}"/>
              </a:ext>
            </a:extLst>
          </p:cNvPr>
          <p:cNvSpPr>
            <a:spLocks noGrp="1"/>
          </p:cNvSpPr>
          <p:nvPr>
            <p:ph type="sldNum" sz="quarter" idx="12"/>
          </p:nvPr>
        </p:nvSpPr>
        <p:spPr/>
        <p:txBody>
          <a:bodyPr/>
          <a:lstStyle/>
          <a:p>
            <a:fld id="{9D3FF152-60F5-4862-82F9-1190556AA56F}" type="slidenum">
              <a:rPr lang="en-IN" smtClean="0"/>
              <a:t>30</a:t>
            </a:fld>
            <a:endParaRPr lang="en-IN"/>
          </a:p>
        </p:txBody>
      </p:sp>
      <p:pic>
        <p:nvPicPr>
          <p:cNvPr id="5" name="Picture 4">
            <a:extLst>
              <a:ext uri="{FF2B5EF4-FFF2-40B4-BE49-F238E27FC236}">
                <a16:creationId xmlns:a16="http://schemas.microsoft.com/office/drawing/2014/main" id="{296A17E6-B46C-DBF0-DAD8-29EEF364E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31" y="1072824"/>
            <a:ext cx="4319270" cy="2097096"/>
          </a:xfrm>
          <a:prstGeom prst="rect">
            <a:avLst/>
          </a:prstGeom>
        </p:spPr>
      </p:pic>
      <p:pic>
        <p:nvPicPr>
          <p:cNvPr id="6" name="Picture 5">
            <a:extLst>
              <a:ext uri="{FF2B5EF4-FFF2-40B4-BE49-F238E27FC236}">
                <a16:creationId xmlns:a16="http://schemas.microsoft.com/office/drawing/2014/main" id="{4BF7D335-E8A2-C306-AC0A-A66CD83019AC}"/>
              </a:ext>
            </a:extLst>
          </p:cNvPr>
          <p:cNvPicPr>
            <a:picLocks noChangeAspect="1"/>
          </p:cNvPicPr>
          <p:nvPr/>
        </p:nvPicPr>
        <p:blipFill>
          <a:blip r:embed="rId3"/>
          <a:stretch>
            <a:fillRect/>
          </a:stretch>
        </p:blipFill>
        <p:spPr>
          <a:xfrm>
            <a:off x="3402095" y="-106717"/>
            <a:ext cx="2712955" cy="853514"/>
          </a:xfrm>
          <a:prstGeom prst="rect">
            <a:avLst/>
          </a:prstGeom>
        </p:spPr>
      </p:pic>
      <p:pic>
        <p:nvPicPr>
          <p:cNvPr id="7" name="Picture 6">
            <a:extLst>
              <a:ext uri="{FF2B5EF4-FFF2-40B4-BE49-F238E27FC236}">
                <a16:creationId xmlns:a16="http://schemas.microsoft.com/office/drawing/2014/main" id="{B7E942CD-C81F-BE47-730C-83C10E0BCA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3966" y="1072824"/>
            <a:ext cx="4319270" cy="2097096"/>
          </a:xfrm>
          <a:prstGeom prst="rect">
            <a:avLst/>
          </a:prstGeom>
        </p:spPr>
      </p:pic>
      <p:pic>
        <p:nvPicPr>
          <p:cNvPr id="8" name="Picture 7">
            <a:extLst>
              <a:ext uri="{FF2B5EF4-FFF2-40B4-BE49-F238E27FC236}">
                <a16:creationId xmlns:a16="http://schemas.microsoft.com/office/drawing/2014/main" id="{76D5C8F0-8D03-B80C-30D1-61B58A959B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0650" y="3570924"/>
            <a:ext cx="4319270" cy="2050062"/>
          </a:xfrm>
          <a:prstGeom prst="rect">
            <a:avLst/>
          </a:prstGeom>
        </p:spPr>
      </p:pic>
    </p:spTree>
    <p:extLst>
      <p:ext uri="{BB962C8B-B14F-4D97-AF65-F5344CB8AC3E}">
        <p14:creationId xmlns:p14="http://schemas.microsoft.com/office/powerpoint/2010/main" val="925101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7DFE683E-AC90-C1AF-8D07-537D4AF5506B}"/>
              </a:ext>
            </a:extLst>
          </p:cNvPr>
          <p:cNvSpPr>
            <a:spLocks noGrp="1"/>
          </p:cNvSpPr>
          <p:nvPr>
            <p:ph type="dt" sz="half" idx="10"/>
          </p:nvPr>
        </p:nvSpPr>
        <p:spPr/>
        <p:txBody>
          <a:bodyPr/>
          <a:lstStyle/>
          <a:p>
            <a:fld id="{76DFA34F-4ABB-49E2-B705-EBED4503D36D}" type="datetime1">
              <a:rPr lang="en-IN" smtClean="0"/>
              <a:t>03-04-2025</a:t>
            </a:fld>
            <a:endParaRPr lang="en-IN"/>
          </a:p>
        </p:txBody>
      </p:sp>
      <p:sp>
        <p:nvSpPr>
          <p:cNvPr id="5" name="Slide Number Placeholder 4">
            <a:extLst>
              <a:ext uri="{FF2B5EF4-FFF2-40B4-BE49-F238E27FC236}">
                <a16:creationId xmlns:a16="http://schemas.microsoft.com/office/drawing/2014/main" id="{F5220BD1-1A25-E8B3-BE29-F8796FD4F8FA}"/>
              </a:ext>
            </a:extLst>
          </p:cNvPr>
          <p:cNvSpPr>
            <a:spLocks noGrp="1"/>
          </p:cNvSpPr>
          <p:nvPr>
            <p:ph type="sldNum" sz="quarter" idx="12"/>
          </p:nvPr>
        </p:nvSpPr>
        <p:spPr/>
        <p:txBody>
          <a:bodyPr/>
          <a:lstStyle/>
          <a:p>
            <a:fld id="{9D3FF152-60F5-4862-82F9-1190556AA56F}" type="slidenum">
              <a:rPr lang="en-IN" smtClean="0"/>
              <a:t>31</a:t>
            </a:fld>
            <a:endParaRPr lang="en-IN"/>
          </a:p>
        </p:txBody>
      </p:sp>
      <p:sp>
        <p:nvSpPr>
          <p:cNvPr id="4" name="Footer Placeholder 3">
            <a:extLst>
              <a:ext uri="{FF2B5EF4-FFF2-40B4-BE49-F238E27FC236}">
                <a16:creationId xmlns:a16="http://schemas.microsoft.com/office/drawing/2014/main" id="{D60D3D79-E23D-B8E6-A891-AB9847E89CF7}"/>
              </a:ext>
            </a:extLst>
          </p:cNvPr>
          <p:cNvSpPr>
            <a:spLocks noGrp="1"/>
          </p:cNvSpPr>
          <p:nvPr>
            <p:ph type="ftr" sz="quarter" idx="11"/>
          </p:nvPr>
        </p:nvSpPr>
        <p:spPr/>
        <p:txBody>
          <a:bodyPr/>
          <a:lstStyle/>
          <a:p>
            <a:r>
              <a:rPr lang="en-IN"/>
              <a:t>Title of the Project</a:t>
            </a:r>
          </a:p>
        </p:txBody>
      </p:sp>
      <p:sp>
        <p:nvSpPr>
          <p:cNvPr id="10" name="TextBox 9">
            <a:extLst>
              <a:ext uri="{FF2B5EF4-FFF2-40B4-BE49-F238E27FC236}">
                <a16:creationId xmlns:a16="http://schemas.microsoft.com/office/drawing/2014/main" id="{57AAD5A8-896E-F7A9-600D-4EEF223DE129}"/>
              </a:ext>
            </a:extLst>
          </p:cNvPr>
          <p:cNvSpPr txBox="1"/>
          <p:nvPr/>
        </p:nvSpPr>
        <p:spPr>
          <a:xfrm>
            <a:off x="223520" y="1094661"/>
            <a:ext cx="8737600" cy="1992661"/>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Future Enhancement:</a:t>
            </a: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Future improvements to the current system could include using more advanced AI techniques like deep learning to improve fraud detection. Adding real-time monitoring and alerts would help authorities respond faster to potential fraud. The system can also be made more compatible with global land registries and GIS for better accuracy. Updating smart contracts to adapt to changing laws will keep the system current. Lastly, improving scalability and data privacy will ensure the system can grow and remain secure.</a:t>
            </a:r>
          </a:p>
        </p:txBody>
      </p:sp>
    </p:spTree>
    <p:extLst>
      <p:ext uri="{BB962C8B-B14F-4D97-AF65-F5344CB8AC3E}">
        <p14:creationId xmlns:p14="http://schemas.microsoft.com/office/powerpoint/2010/main" val="741939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68B0C6-C395-BDF8-8FE2-DBD6A467B88F}"/>
              </a:ext>
            </a:extLst>
          </p:cNvPr>
          <p:cNvSpPr>
            <a:spLocks noGrp="1"/>
          </p:cNvSpPr>
          <p:nvPr>
            <p:ph type="dt" sz="half" idx="10"/>
          </p:nvPr>
        </p:nvSpPr>
        <p:spPr/>
        <p:txBody>
          <a:bodyPr/>
          <a:lstStyle/>
          <a:p>
            <a:fld id="{529E1635-4293-4BDB-9808-27ED47FEDDC8}" type="datetime1">
              <a:rPr lang="en-IN" smtClean="0"/>
              <a:t>03-04-2025</a:t>
            </a:fld>
            <a:endParaRPr lang="en-IN"/>
          </a:p>
        </p:txBody>
      </p:sp>
      <p:sp>
        <p:nvSpPr>
          <p:cNvPr id="3" name="Footer Placeholder 2">
            <a:extLst>
              <a:ext uri="{FF2B5EF4-FFF2-40B4-BE49-F238E27FC236}">
                <a16:creationId xmlns:a16="http://schemas.microsoft.com/office/drawing/2014/main" id="{D71AB760-7720-1452-8CBC-FA38DB7645E5}"/>
              </a:ext>
            </a:extLst>
          </p:cNvPr>
          <p:cNvSpPr>
            <a:spLocks noGrp="1"/>
          </p:cNvSpPr>
          <p:nvPr>
            <p:ph type="ftr" sz="quarter" idx="11"/>
          </p:nvPr>
        </p:nvSpPr>
        <p:spPr/>
        <p:txBody>
          <a:bodyPr/>
          <a:lstStyle/>
          <a:p>
            <a:r>
              <a:rPr lang="en-IN"/>
              <a:t>Title of the Project</a:t>
            </a:r>
          </a:p>
        </p:txBody>
      </p:sp>
      <p:sp>
        <p:nvSpPr>
          <p:cNvPr id="4" name="Slide Number Placeholder 3">
            <a:extLst>
              <a:ext uri="{FF2B5EF4-FFF2-40B4-BE49-F238E27FC236}">
                <a16:creationId xmlns:a16="http://schemas.microsoft.com/office/drawing/2014/main" id="{60E8D6DC-3AEF-8F3C-465A-82C3972230C3}"/>
              </a:ext>
            </a:extLst>
          </p:cNvPr>
          <p:cNvSpPr>
            <a:spLocks noGrp="1"/>
          </p:cNvSpPr>
          <p:nvPr>
            <p:ph type="sldNum" sz="quarter" idx="12"/>
          </p:nvPr>
        </p:nvSpPr>
        <p:spPr/>
        <p:txBody>
          <a:bodyPr/>
          <a:lstStyle/>
          <a:p>
            <a:fld id="{9D3FF152-60F5-4862-82F9-1190556AA56F}" type="slidenum">
              <a:rPr lang="en-IN" smtClean="0"/>
              <a:t>32</a:t>
            </a:fld>
            <a:endParaRPr lang="en-IN"/>
          </a:p>
        </p:txBody>
      </p:sp>
      <p:sp>
        <p:nvSpPr>
          <p:cNvPr id="8" name="TextBox 7">
            <a:extLst>
              <a:ext uri="{FF2B5EF4-FFF2-40B4-BE49-F238E27FC236}">
                <a16:creationId xmlns:a16="http://schemas.microsoft.com/office/drawing/2014/main" id="{11A76DF4-87F2-5F7A-4155-2A4CC8AD70F8}"/>
              </a:ext>
            </a:extLst>
          </p:cNvPr>
          <p:cNvSpPr txBox="1"/>
          <p:nvPr/>
        </p:nvSpPr>
        <p:spPr>
          <a:xfrm>
            <a:off x="1428750" y="136524"/>
            <a:ext cx="725805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dirty="0"/>
          </a:p>
        </p:txBody>
      </p:sp>
      <p:sp>
        <p:nvSpPr>
          <p:cNvPr id="10" name="TextBox 9">
            <a:extLst>
              <a:ext uri="{FF2B5EF4-FFF2-40B4-BE49-F238E27FC236}">
                <a16:creationId xmlns:a16="http://schemas.microsoft.com/office/drawing/2014/main" id="{E34EF31F-9E35-E1B1-3987-2B5CF9D04D34}"/>
              </a:ext>
            </a:extLst>
          </p:cNvPr>
          <p:cNvSpPr txBox="1"/>
          <p:nvPr/>
        </p:nvSpPr>
        <p:spPr>
          <a:xfrm>
            <a:off x="81280" y="877928"/>
            <a:ext cx="8981440" cy="1992661"/>
          </a:xfrm>
          <a:prstGeom prst="rect">
            <a:avLst/>
          </a:prstGeom>
          <a:noFill/>
        </p:spPr>
        <p:txBody>
          <a:bodyPr wrap="square">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Conclusion:</a:t>
            </a: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Agri Safe system offers a secure, transparent, and efficient solution for land registration in agriculture by combining blockchain and AI technologies. By ensuring tamper-proof records and using AI to detect fraudulent data, it significantly reduces the risk of ownership disputes and fraud. The system's smart contracts and secure data storage on IPFS enhance the reliability and accessibility of land information. With its ability to scale and adapt, Agri Safe paves the way for a more trustworthy and sustainable land registration process in agriculture.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713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Reference Paper/ URL</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B6D369E8-824B-4704-91D5-7D9A997346C0}"/>
              </a:ext>
            </a:extLst>
          </p:cNvPr>
          <p:cNvSpPr txBox="1">
            <a:spLocks/>
          </p:cNvSpPr>
          <p:nvPr/>
        </p:nvSpPr>
        <p:spPr>
          <a:xfrm>
            <a:off x="390433" y="1587898"/>
            <a:ext cx="7886700" cy="530258"/>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gn="ct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a:solidFill>
                  <a:srgbClr val="7030A0"/>
                </a:solidFill>
                <a:latin typeface="+mn-lt"/>
              </a:rPr>
              <a:t> </a:t>
            </a:r>
            <a:endParaRPr lang="en-IN" dirty="0">
              <a:solidFill>
                <a:srgbClr val="7030A0"/>
              </a:solidFill>
              <a:latin typeface="+mn-lt"/>
            </a:endParaRPr>
          </a:p>
        </p:txBody>
      </p:sp>
      <p:sp>
        <p:nvSpPr>
          <p:cNvPr id="5" name="Date Placeholder 4">
            <a:extLst>
              <a:ext uri="{FF2B5EF4-FFF2-40B4-BE49-F238E27FC236}">
                <a16:creationId xmlns:a16="http://schemas.microsoft.com/office/drawing/2014/main" id="{3E5EA7E0-721F-6954-4BF0-896788EE53AE}"/>
              </a:ext>
            </a:extLst>
          </p:cNvPr>
          <p:cNvSpPr>
            <a:spLocks noGrp="1"/>
          </p:cNvSpPr>
          <p:nvPr>
            <p:ph type="dt" sz="half" idx="10"/>
          </p:nvPr>
        </p:nvSpPr>
        <p:spPr/>
        <p:txBody>
          <a:bodyPr/>
          <a:lstStyle/>
          <a:p>
            <a:fld id="{9CF59E33-DD9E-4B35-956E-F9289B843811}" type="datetime1">
              <a:rPr lang="en-IN" smtClean="0"/>
              <a:t>03-04-2025</a:t>
            </a:fld>
            <a:endParaRPr lang="en-IN"/>
          </a:p>
        </p:txBody>
      </p:sp>
      <p:sp>
        <p:nvSpPr>
          <p:cNvPr id="6" name="Slide Number Placeholder 5">
            <a:extLst>
              <a:ext uri="{FF2B5EF4-FFF2-40B4-BE49-F238E27FC236}">
                <a16:creationId xmlns:a16="http://schemas.microsoft.com/office/drawing/2014/main" id="{43E9B934-EE6A-1A45-AAAE-017246AA72E8}"/>
              </a:ext>
            </a:extLst>
          </p:cNvPr>
          <p:cNvSpPr>
            <a:spLocks noGrp="1"/>
          </p:cNvSpPr>
          <p:nvPr>
            <p:ph type="sldNum" sz="quarter" idx="12"/>
          </p:nvPr>
        </p:nvSpPr>
        <p:spPr/>
        <p:txBody>
          <a:bodyPr/>
          <a:lstStyle/>
          <a:p>
            <a:fld id="{9D3FF152-60F5-4862-82F9-1190556AA56F}" type="slidenum">
              <a:rPr lang="en-IN" smtClean="0"/>
              <a:t>33</a:t>
            </a:fld>
            <a:endParaRPr lang="en-IN"/>
          </a:p>
        </p:txBody>
      </p:sp>
      <p:sp>
        <p:nvSpPr>
          <p:cNvPr id="4" name="Footer Placeholder 3">
            <a:extLst>
              <a:ext uri="{FF2B5EF4-FFF2-40B4-BE49-F238E27FC236}">
                <a16:creationId xmlns:a16="http://schemas.microsoft.com/office/drawing/2014/main" id="{4E20D2F8-BD1F-BE3A-17E5-8E06A4AE8342}"/>
              </a:ext>
            </a:extLst>
          </p:cNvPr>
          <p:cNvSpPr>
            <a:spLocks noGrp="1"/>
          </p:cNvSpPr>
          <p:nvPr>
            <p:ph type="ftr" sz="quarter" idx="11"/>
          </p:nvPr>
        </p:nvSpPr>
        <p:spPr/>
        <p:txBody>
          <a:bodyPr/>
          <a:lstStyle/>
          <a:p>
            <a:r>
              <a:rPr lang="en-IN"/>
              <a:t>Title of the Project</a:t>
            </a:r>
          </a:p>
        </p:txBody>
      </p:sp>
      <p:sp>
        <p:nvSpPr>
          <p:cNvPr id="9" name="TextBox 8">
            <a:extLst>
              <a:ext uri="{FF2B5EF4-FFF2-40B4-BE49-F238E27FC236}">
                <a16:creationId xmlns:a16="http://schemas.microsoft.com/office/drawing/2014/main" id="{0E22D1F2-5440-2667-717B-96461766E81D}"/>
              </a:ext>
            </a:extLst>
          </p:cNvPr>
          <p:cNvSpPr txBox="1"/>
          <p:nvPr/>
        </p:nvSpPr>
        <p:spPr>
          <a:xfrm>
            <a:off x="101600" y="1392303"/>
            <a:ext cx="8940800" cy="70000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https://www.researchgate.net/publication/383544695_GreenLand_A_Secure_Land_Registration_Scheme_for_Blockchain_and_AI-enabled_Agriculture_Industry_50</a:t>
            </a:r>
          </a:p>
        </p:txBody>
      </p:sp>
    </p:spTree>
    <p:extLst>
      <p:ext uri="{BB962C8B-B14F-4D97-AF65-F5344CB8AC3E}">
        <p14:creationId xmlns:p14="http://schemas.microsoft.com/office/powerpoint/2010/main" val="3554452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2800" b="1" dirty="0">
                <a:solidFill>
                  <a:srgbClr val="7030A0"/>
                </a:solidFill>
                <a:latin typeface="Times New Roman" panose="02020603050405020304" pitchFamily="18" charset="0"/>
                <a:cs typeface="Times New Roman" panose="02020603050405020304" pitchFamily="18" charset="0"/>
              </a:rPr>
              <a:t>Conference / Publication / Patent Certificate/ Project Contest  Winner Certificates</a:t>
            </a:r>
            <a:endParaRPr lang="en-IN" sz="16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BE265B8C-C896-A501-9CD3-FE1FC45A6521}"/>
              </a:ext>
            </a:extLst>
          </p:cNvPr>
          <p:cNvSpPr>
            <a:spLocks noGrp="1"/>
          </p:cNvSpPr>
          <p:nvPr>
            <p:ph type="dt" sz="half" idx="10"/>
          </p:nvPr>
        </p:nvSpPr>
        <p:spPr/>
        <p:txBody>
          <a:bodyPr/>
          <a:lstStyle/>
          <a:p>
            <a:fld id="{4732A565-8813-4399-A521-59C8D95CA068}" type="datetime1">
              <a:rPr lang="en-IN" smtClean="0"/>
              <a:t>03-04-2025</a:t>
            </a:fld>
            <a:endParaRPr lang="en-IN"/>
          </a:p>
        </p:txBody>
      </p:sp>
      <p:sp>
        <p:nvSpPr>
          <p:cNvPr id="5" name="Slide Number Placeholder 4">
            <a:extLst>
              <a:ext uri="{FF2B5EF4-FFF2-40B4-BE49-F238E27FC236}">
                <a16:creationId xmlns:a16="http://schemas.microsoft.com/office/drawing/2014/main" id="{91EFDBAE-521D-3BF3-1EEF-E033411EFA66}"/>
              </a:ext>
            </a:extLst>
          </p:cNvPr>
          <p:cNvSpPr>
            <a:spLocks noGrp="1"/>
          </p:cNvSpPr>
          <p:nvPr>
            <p:ph type="sldNum" sz="quarter" idx="12"/>
          </p:nvPr>
        </p:nvSpPr>
        <p:spPr/>
        <p:txBody>
          <a:bodyPr/>
          <a:lstStyle/>
          <a:p>
            <a:fld id="{9D3FF152-60F5-4862-82F9-1190556AA56F}" type="slidenum">
              <a:rPr lang="en-IN" smtClean="0"/>
              <a:t>34</a:t>
            </a:fld>
            <a:endParaRPr lang="en-IN"/>
          </a:p>
        </p:txBody>
      </p:sp>
      <p:sp>
        <p:nvSpPr>
          <p:cNvPr id="4" name="Footer Placeholder 3">
            <a:extLst>
              <a:ext uri="{FF2B5EF4-FFF2-40B4-BE49-F238E27FC236}">
                <a16:creationId xmlns:a16="http://schemas.microsoft.com/office/drawing/2014/main" id="{8DB4ACF5-6B29-0140-C8E4-C0CF462EE1F0}"/>
              </a:ext>
            </a:extLst>
          </p:cNvPr>
          <p:cNvSpPr>
            <a:spLocks noGrp="1"/>
          </p:cNvSpPr>
          <p:nvPr>
            <p:ph type="ftr" sz="quarter" idx="11"/>
          </p:nvPr>
        </p:nvSpPr>
        <p:spPr/>
        <p:txBody>
          <a:bodyPr/>
          <a:lstStyle/>
          <a:p>
            <a:r>
              <a:rPr lang="en-IN"/>
              <a:t>Title of the Project</a:t>
            </a:r>
          </a:p>
        </p:txBody>
      </p:sp>
    </p:spTree>
    <p:extLst>
      <p:ext uri="{BB962C8B-B14F-4D97-AF65-F5344CB8AC3E}">
        <p14:creationId xmlns:p14="http://schemas.microsoft.com/office/powerpoint/2010/main" val="18311249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1714</TotalTime>
  <Words>2991</Words>
  <Application>Microsoft Office PowerPoint</Application>
  <PresentationFormat>On-screen Show (4:3)</PresentationFormat>
  <Paragraphs>292</Paragraphs>
  <Slides>34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Times New Roman</vt:lpstr>
      <vt:lpstr>Wingdings</vt:lpstr>
      <vt:lpstr>Office Theme</vt:lpstr>
      <vt:lpstr>PowerPoint Presentation</vt:lpstr>
      <vt:lpstr>Abstract</vt:lpstr>
      <vt:lpstr>Introduction</vt:lpstr>
      <vt:lpstr>Objective of the Project</vt:lpstr>
      <vt:lpstr>Literature Survey</vt:lpstr>
      <vt:lpstr>Literature Survey</vt:lpstr>
      <vt:lpstr>Literature Survey</vt:lpstr>
      <vt:lpstr>Problem Statement</vt:lpstr>
      <vt:lpstr>Proposed System</vt:lpstr>
      <vt:lpstr>Software / Hardware used</vt:lpstr>
      <vt:lpstr>Architecture / Methodology used</vt:lpstr>
      <vt:lpstr>System Design - Flow Chart </vt:lpstr>
      <vt:lpstr>System Design - DFD</vt:lpstr>
      <vt:lpstr>System Design - DFD </vt:lpstr>
      <vt:lpstr>System Design - ER </vt:lpstr>
      <vt:lpstr>PowerPoint Presentation</vt:lpstr>
      <vt:lpstr>PowerPoint Presentation</vt:lpstr>
      <vt:lpstr>PowerPoint Presentation</vt:lpstr>
      <vt:lpstr>Module Description</vt:lpstr>
      <vt:lpstr>Module Description</vt:lpstr>
      <vt:lpstr>Module Description</vt:lpstr>
      <vt:lpstr>Module Description</vt:lpstr>
      <vt:lpstr>PowerPoint Presentation</vt:lpstr>
      <vt:lpstr>PowerPoint Presentation</vt:lpstr>
      <vt:lpstr>Testing /Performance Evaluation / Results</vt:lpstr>
      <vt:lpstr>Testing /Performance Evaluation / Results</vt:lpstr>
      <vt:lpstr>Screen Shots</vt:lpstr>
      <vt:lpstr>Screen Shots</vt:lpstr>
      <vt:lpstr>PowerPoint Presentation</vt:lpstr>
      <vt:lpstr>PowerPoint Presentation</vt:lpstr>
      <vt:lpstr>Conclusion / Feature Enhancement</vt:lpstr>
      <vt:lpstr>PowerPoint Presentation</vt:lpstr>
      <vt:lpstr>Reference Paper/ URL</vt:lpstr>
      <vt:lpstr>Conference / Publication / Patent Certificate/ Project Contest  Winner Certificates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SENTHILKUMAR G</dc:creator>
  <cp:lastModifiedBy>kishore k</cp:lastModifiedBy>
  <cp:revision>22</cp:revision>
  <dcterms:created xsi:type="dcterms:W3CDTF">2020-12-27T14:21:20Z</dcterms:created>
  <dcterms:modified xsi:type="dcterms:W3CDTF">2025-04-03T04:13:26Z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618053</vt:lpwstr>
  </property>
  <property fmtid="{D5CDD505-2E9C-101B-9397-08002B2CF9AE}" name="NXPowerLiteSettings" pid="3">
    <vt:lpwstr>F7000400038000</vt:lpwstr>
  </property>
  <property fmtid="{D5CDD505-2E9C-101B-9397-08002B2CF9AE}" name="NXPowerLiteVersion" pid="4">
    <vt:lpwstr>S10.3.1</vt:lpwstr>
  </property>
</Properties>
</file>